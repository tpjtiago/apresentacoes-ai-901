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621792"/>
            <a:ext cx="10881360" cy="5559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5B21B6"/>
                </a:solidFill>
                <a:latin typeface="Aptos"/>
              </a:rPr>
              <a:t>AI-901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72768"/>
            <a:ext cx="65836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1F2937"/>
                </a:solidFill>
                <a:latin typeface="Aptos"/>
              </a:rPr>
              <a:t>Conceitos de IA
e IA Responsável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3108960"/>
            <a:ext cx="7772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666E7D"/>
                </a:solidFill>
                <a:latin typeface="Aptos"/>
              </a:rPr>
              <a:t>EP 1 • Fundamentos para reconhecer cenários da prova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4340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35424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284C7"/>
                </a:solidFill>
                <a:latin typeface="Aptos"/>
              </a:rPr>
              <a:t>PERCEBER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434340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4535424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B21B6"/>
                </a:solidFill>
                <a:latin typeface="Aptos"/>
              </a:rPr>
              <a:t>GERAR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434340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4535424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A580C"/>
                </a:solidFill>
                <a:latin typeface="Aptos"/>
              </a:rPr>
              <a:t>AGIR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5779008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66E7D"/>
                </a:solidFill>
                <a:latin typeface="Aptos"/>
              </a:rPr>
              <a:t>Tiago Jr.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Hoje vamos falar de 4 coisas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0749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947672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B21B6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1947672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O que é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24688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66E7D"/>
                </a:solidFill>
                <a:latin typeface="Aptos"/>
              </a:rPr>
              <a:t>Perceber, gerar e agir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9" y="1783080"/>
            <a:ext cx="50749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7" y="1947672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284C7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9" y="1947672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Cargas de trabalho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59" y="24688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66E7D"/>
                </a:solidFill>
                <a:latin typeface="Aptos"/>
              </a:rPr>
              <a:t>Texto, fala, visão, geração...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611880"/>
            <a:ext cx="50749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776472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3776472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Generativa e agentes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19" y="42976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66E7D"/>
                </a:solidFill>
                <a:latin typeface="Aptos"/>
              </a:rPr>
              <a:t>Criar conteúdo × executar ações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9" y="3611880"/>
            <a:ext cx="50749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7" y="3776472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3776472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IA Responsável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59" y="42976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66E7D"/>
                </a:solidFill>
                <a:latin typeface="Aptos"/>
              </a:rPr>
              <a:t>Os 6 princípios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PROVA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Onde este episódio entra na prova?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920240"/>
            <a:ext cx="4572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4114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5B21B6"/>
                </a:solidFill>
                <a:latin typeface="Aptos"/>
              </a:rPr>
              <a:t>40–45%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87752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Conceitos e recursos de 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920240"/>
            <a:ext cx="4572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103120"/>
            <a:ext cx="4114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284C7"/>
                </a:solidFill>
                <a:latin typeface="Aptos"/>
              </a:rPr>
              <a:t>55–60%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587752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Implementação com Microsoft Foundry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416052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5B21B6"/>
                </a:solidFill>
                <a:latin typeface="Aptos"/>
              </a:rPr>
              <a:t>EP1 = base conceitual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892040"/>
            <a:ext cx="8503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666E7D"/>
                </a:solidFill>
                <a:latin typeface="Aptos"/>
              </a:rPr>
              <a:t>O Foundry entra no EP2.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CONCEITO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IA não é só ChatGPT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67712"/>
            <a:ext cx="3383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0284C7"/>
                </a:solidFill>
                <a:latin typeface="Aptos"/>
              </a:rPr>
              <a:t>PERCEBER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52928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Aptos"/>
              </a:rPr>
              <a:t>Entender texto, áudio e imagem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96596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2267712"/>
            <a:ext cx="3383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B21B6"/>
                </a:solidFill>
                <a:latin typeface="Aptos"/>
              </a:rPr>
              <a:t>GERAR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2852928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Aptos"/>
              </a:rPr>
              <a:t>Criar uma nova saída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196596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2267712"/>
            <a:ext cx="3383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EA580C"/>
                </a:solidFill>
                <a:latin typeface="Aptos"/>
              </a:rPr>
              <a:t>AGIR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2852928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Aptos"/>
              </a:rPr>
              <a:t>Executar uma tarefa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4892040"/>
            <a:ext cx="6309360" cy="438912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4928616"/>
            <a:ext cx="61630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21B6"/>
                </a:solidFill>
                <a:latin typeface="Aptos"/>
              </a:rPr>
              <a:t>Atalho mental: perceber • gerar • agir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Principais cargas de trabalho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5B21B6"/>
                </a:solidFill>
                <a:latin typeface="Aptos"/>
              </a:rPr>
              <a:t>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9631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Aptos"/>
              </a:rPr>
              <a:t>entender linguagem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78308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947672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284C7"/>
                </a:solidFill>
                <a:latin typeface="Aptos"/>
              </a:rPr>
              <a:t>Speech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49631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Aptos"/>
              </a:rPr>
              <a:t>fala ↔ texto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178308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947672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59669"/>
                </a:solidFill>
                <a:latin typeface="Aptos"/>
              </a:rPr>
              <a:t>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249631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Aptos"/>
              </a:rPr>
              <a:t>entender imagens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22191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A580C"/>
                </a:solidFill>
                <a:latin typeface="Aptos"/>
              </a:rPr>
              <a:t>Geração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7083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Aptos"/>
              </a:rPr>
              <a:t>criar conteúdo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62272" y="365760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3822191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A16207"/>
                </a:solidFill>
                <a:latin typeface="Aptos"/>
              </a:rPr>
              <a:t>Extração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437083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Aptos"/>
              </a:rPr>
              <a:t>obter campos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93024" y="365760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3822191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DC2626"/>
                </a:solidFill>
                <a:latin typeface="Aptos"/>
              </a:rPr>
              <a:t>Agentes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437083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Aptos"/>
              </a:rPr>
              <a:t>executar tarefas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5669280"/>
            <a:ext cx="5760720" cy="438912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73552" y="5705856"/>
            <a:ext cx="561441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21B6"/>
                </a:solidFill>
                <a:latin typeface="Aptos"/>
              </a:rPr>
              <a:t>Detalhes ficam nos próximos episódios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ATALHO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Pense pelo verbo da questão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5212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entender um 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91640"/>
            <a:ext cx="457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691640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Aptos"/>
              </a:rPr>
              <a:t>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68296"/>
            <a:ext cx="5212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transcrever uma fala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368296"/>
            <a:ext cx="457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368296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Aptos"/>
              </a:rPr>
              <a:t>SPEECH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044952"/>
            <a:ext cx="5212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analisar uma imagem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044952"/>
            <a:ext cx="457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3044952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Aptos"/>
              </a:rPr>
              <a:t>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21608"/>
            <a:ext cx="5212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criar algo novo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721608"/>
            <a:ext cx="457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721608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Aptos"/>
              </a:rPr>
              <a:t>GERAÇÃO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398264"/>
            <a:ext cx="5212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extrair campos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398264"/>
            <a:ext cx="457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398264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Aptos"/>
              </a:rPr>
              <a:t>EXTRAÇÃO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074920"/>
            <a:ext cx="5212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fazer algo por você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5074920"/>
            <a:ext cx="457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074920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Aptos"/>
              </a:rPr>
              <a:t>AGENTE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5806440"/>
            <a:ext cx="5486400" cy="438912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64992" y="5843016"/>
            <a:ext cx="53400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21B6"/>
                </a:solidFill>
                <a:latin typeface="Aptos"/>
              </a:rPr>
              <a:t>Na prova, procure primeiro o VERBO.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GENERATIVA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IA Generativa = criar uma nova saída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2148840"/>
            <a:ext cx="28346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450592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B21B6"/>
                </a:solidFill>
                <a:latin typeface="Aptos"/>
              </a:rPr>
              <a:t>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42316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148840"/>
            <a:ext cx="28346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450592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284C7"/>
                </a:solidFill>
                <a:latin typeface="Aptos"/>
              </a:rPr>
              <a:t>MODELO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42316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2148840"/>
            <a:ext cx="28346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450592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59669"/>
                </a:solidFill>
                <a:latin typeface="Aptos"/>
              </a:rPr>
              <a:t>NOVA SAÍDA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666E7D"/>
                </a:solidFill>
                <a:latin typeface="Aptos"/>
              </a:rPr>
              <a:t>Exemplos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005072"/>
            <a:ext cx="8138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resumir • explicar • escrever • gerar imagem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5166360"/>
            <a:ext cx="6309360" cy="438912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5202936"/>
            <a:ext cx="61630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21B6"/>
                </a:solidFill>
                <a:latin typeface="Aptos"/>
              </a:rPr>
              <a:t>Gatilho: criar • gerar • produzir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COMPARAÇÃO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Analisar ≠ Gerar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965960"/>
            <a:ext cx="45720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48840"/>
            <a:ext cx="4114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284C7"/>
                </a:solidFill>
                <a:latin typeface="Aptos"/>
              </a:rPr>
              <a:t>ANALISAR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33472"/>
            <a:ext cx="41148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“Esse comentário é positivo ou negativo?”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965960"/>
            <a:ext cx="45720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148840"/>
            <a:ext cx="4114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5B21B6"/>
                </a:solidFill>
                <a:latin typeface="Aptos"/>
              </a:rPr>
              <a:t>GERAR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33472"/>
            <a:ext cx="41148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“Resuma esse comentário em uma frase.”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4800600"/>
            <a:ext cx="5669280" cy="438912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4837176"/>
            <a:ext cx="552297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21B6"/>
                </a:solidFill>
                <a:latin typeface="Aptos"/>
              </a:rPr>
              <a:t>Categoria existente × nova saída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AGENTES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IA Agêntica = executar etapas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F2937"/>
                </a:solidFill>
                <a:latin typeface="Aptos"/>
              </a:rPr>
              <a:t>“Consulte meu pedido, veja se está atrasado e abra um chamado.”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7889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26664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5B21B6"/>
                </a:solidFill>
                <a:latin typeface="Aptos"/>
              </a:rPr>
              <a:t>OBJETIVO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2999232"/>
            <a:ext cx="310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7889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3026664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A580C"/>
                </a:solidFill>
                <a:latin typeface="Aptos"/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2472" y="2999232"/>
            <a:ext cx="310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7889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026664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284C7"/>
                </a:solidFill>
                <a:latin typeface="Aptos"/>
              </a:rPr>
              <a:t>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2999232"/>
            <a:ext cx="310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39" y="27889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39" y="3026664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59669"/>
                </a:solidFill>
                <a:latin typeface="Aptos"/>
              </a:rPr>
              <a:t>SISTEMA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4892040"/>
            <a:ext cx="6126480" cy="438912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36392" y="4928616"/>
            <a:ext cx="598017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A580C"/>
                </a:solidFill>
                <a:latin typeface="Aptos"/>
              </a:rPr>
              <a:t>Modelo responde. Agente pode agir.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COMPARAÇÃO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Chat ×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011680"/>
            <a:ext cx="438912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194560"/>
            <a:ext cx="3931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284C7"/>
                </a:solidFill>
                <a:latin typeface="Aptos"/>
              </a:rPr>
              <a:t>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79192"/>
            <a:ext cx="3931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Pergunta → resposta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2011680"/>
            <a:ext cx="438912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194560"/>
            <a:ext cx="3931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EA580C"/>
                </a:solidFill>
                <a:latin typeface="Aptos"/>
              </a:rPr>
              <a:t>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679192"/>
            <a:ext cx="3931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Objetivo → decisão → tool → 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5303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0">
                <a:solidFill>
                  <a:srgbClr val="1F2937"/>
                </a:solidFill>
                <a:latin typeface="Aptos"/>
              </a:rPr>
              <a:t>Se existe ação em sistema externo...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462272"/>
            <a:ext cx="4754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5B21B6"/>
                </a:solidFill>
                <a:latin typeface="Aptos"/>
              </a:rPr>
              <a:t>pense em AGENT + TOOL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AGENTES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Tool = ponte para o mundo externo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9456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41448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EA580C"/>
                </a:solidFill>
                <a:latin typeface="Aptos"/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73552" y="2414016"/>
            <a:ext cx="310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19456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441448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B21B6"/>
                </a:solidFill>
                <a:latin typeface="Aptos"/>
              </a:rPr>
              <a:t>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2472" y="2414016"/>
            <a:ext cx="310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19456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441448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284C7"/>
                </a:solidFill>
                <a:latin typeface="Aptos"/>
              </a:rPr>
              <a:t>API / SISTEMA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392" y="2414016"/>
            <a:ext cx="310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39" y="219456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39" y="2441448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59669"/>
                </a:solidFill>
                <a:latin typeface="Aptos"/>
              </a:rPr>
              <a:t>RESULTADO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977639"/>
            <a:ext cx="9784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5B21B6"/>
                </a:solidFill>
                <a:latin typeface="Aptos"/>
              </a:rPr>
              <a:t>O modelo não tem acesso mágico aos seus sistemas.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800600"/>
            <a:ext cx="9052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Aptos"/>
              </a:rPr>
              <a:t>A ferramenta é quem executa a capacidade externa.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Só funcionar não é suficiente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474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67127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5B21B6"/>
                </a:solidFill>
                <a:latin typeface="Aptos"/>
              </a:rPr>
              <a:t>JUSTO?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874519"/>
            <a:ext cx="3474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2167127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DC2626"/>
                </a:solidFill>
                <a:latin typeface="Aptos"/>
              </a:rPr>
              <a:t>SEGURO?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84463" y="1874519"/>
            <a:ext cx="3474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3" y="2167127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284C7"/>
                </a:solidFill>
                <a:latin typeface="Aptos"/>
              </a:rPr>
              <a:t>PRIVADO?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83279"/>
            <a:ext cx="3474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75887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59669"/>
                </a:solidFill>
                <a:latin typeface="Aptos"/>
              </a:rPr>
              <a:t>INCLUSIVO?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62272" y="3383279"/>
            <a:ext cx="3474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3675887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A580C"/>
                </a:solidFill>
                <a:latin typeface="Aptos"/>
              </a:rPr>
              <a:t>CLARO?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3" y="3383279"/>
            <a:ext cx="3474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3" y="3675887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A16207"/>
                </a:solidFill>
                <a:latin typeface="Aptos"/>
              </a:rPr>
              <a:t>RESPONSÁVEL?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5212080"/>
            <a:ext cx="6583680" cy="438912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07792" y="5248656"/>
            <a:ext cx="643737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21B6"/>
                </a:solidFill>
                <a:latin typeface="Aptos"/>
              </a:rPr>
              <a:t>Essas perguntas viram os 6 princípios.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MAPA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Os 6 princípios de IA Responsável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737360"/>
            <a:ext cx="507492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01952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5B21B6"/>
                </a:solidFill>
                <a:latin typeface="Aptos"/>
              </a:rPr>
              <a:t>Fairness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42232" y="1901952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666E7D"/>
                </a:solidFill>
                <a:latin typeface="Aptos"/>
              </a:rPr>
              <a:t>justiça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737360"/>
            <a:ext cx="507492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901952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Reliability &amp;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8632" y="1901952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666E7D"/>
                </a:solidFill>
                <a:latin typeface="Aptos"/>
              </a:rPr>
              <a:t>segurança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990088"/>
            <a:ext cx="507492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154680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284C7"/>
                </a:solidFill>
                <a:latin typeface="Aptos"/>
              </a:rPr>
              <a:t>Privacy &amp;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2232" y="315468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666E7D"/>
                </a:solidFill>
                <a:latin typeface="Aptos"/>
              </a:rPr>
              <a:t>dados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2990088"/>
            <a:ext cx="507492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3154680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Aptos"/>
              </a:rPr>
              <a:t>Inclusiveness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8632" y="315468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666E7D"/>
                </a:solidFill>
                <a:latin typeface="Aptos"/>
              </a:rPr>
              <a:t>acessibilidade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242816"/>
            <a:ext cx="507492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407408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A580C"/>
                </a:solidFill>
                <a:latin typeface="Aptos"/>
              </a:rPr>
              <a:t>Transparency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2232" y="4407408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666E7D"/>
                </a:solidFill>
                <a:latin typeface="Aptos"/>
              </a:rPr>
              <a:t>clareza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4242816"/>
            <a:ext cx="507492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4407408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16207"/>
                </a:solidFill>
                <a:latin typeface="Aptos"/>
              </a:rPr>
              <a:t>Accountability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8632" y="4407408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666E7D"/>
                </a:solidFill>
                <a:latin typeface="Aptos"/>
              </a:rPr>
              <a:t>responsabilidade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Qual princípio está em risco?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64208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tratamento desigual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64208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664208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5B21B6"/>
                </a:solidFill>
                <a:latin typeface="Aptos"/>
              </a:rPr>
              <a:t>FAIRNESS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59152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falha perigosa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359152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359152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5B21B6"/>
                </a:solidFill>
                <a:latin typeface="Aptos"/>
              </a:rPr>
              <a:t>RELIABILITY &amp; 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54096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vazamento de 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054096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054096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5B21B6"/>
                </a:solidFill>
                <a:latin typeface="Aptos"/>
              </a:rPr>
              <a:t>PRIVACY &amp;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4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barreira de acesso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74904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749040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5B21B6"/>
                </a:solidFill>
                <a:latin typeface="Aptos"/>
              </a:rPr>
              <a:t>INCLUSIVENESS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443984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ninguém consegue explicar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443984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443984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5B21B6"/>
                </a:solidFill>
                <a:latin typeface="Aptos"/>
              </a:rPr>
              <a:t>TRANSPARENCY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138928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quem responde?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5138928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5138928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5B21B6"/>
                </a:solidFill>
                <a:latin typeface="Aptos"/>
              </a:rPr>
              <a:t>ACCOUNTABILITY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Exemplo: Fairness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241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0">
                <a:solidFill>
                  <a:srgbClr val="1F2937"/>
                </a:solidFill>
                <a:latin typeface="Aptos"/>
              </a:rPr>
              <a:t>Dois clientes têm perfis financeiros equivalentes.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DC2626"/>
                </a:solidFill>
                <a:latin typeface="Aptos"/>
              </a:rPr>
              <a:t>Mas o modelo rejeita um grupo com muito mais frequência.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3886200"/>
            <a:ext cx="5943600" cy="438912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82112" y="3922776"/>
            <a:ext cx="57972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Aptos"/>
              </a:rPr>
              <a:t>Problema central: tratamento desigual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4800600"/>
            <a:ext cx="3291840" cy="438912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4837176"/>
            <a:ext cx="314553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21B6"/>
                </a:solidFill>
                <a:latin typeface="Aptos"/>
              </a:rPr>
              <a:t>→ FAIRNESS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Exemplo: Transparency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241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1F2937"/>
                </a:solidFill>
                <a:latin typeface="Aptos"/>
              </a:rPr>
              <a:t>Sistema: “Seu pedido foi recusado.”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10241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EA580C"/>
                </a:solidFill>
                <a:latin typeface="Aptos"/>
              </a:rPr>
              <a:t>Usuário: “Por quê?”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241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  <a:latin typeface="Aptos"/>
              </a:rPr>
              <a:t>Ninguém consegue explicar o motivo ou as limitações.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4709160"/>
            <a:ext cx="3657600" cy="438912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9392" y="4745736"/>
            <a:ext cx="35112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21B6"/>
                </a:solidFill>
                <a:latin typeface="Aptos"/>
              </a:rPr>
              <a:t>→ TRANSPARENCY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Questão rápida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49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F2937"/>
                </a:solidFill>
                <a:latin typeface="Aptos"/>
              </a:rPr>
              <a:t>Uma empresa quer que a IA crie uma descrição de produto a partir de algumas características.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34640"/>
            <a:ext cx="48006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A) Computer Vision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834640"/>
            <a:ext cx="48006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97180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B) IA Generativa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86200"/>
            <a:ext cx="48006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2336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C) Speech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886200"/>
            <a:ext cx="48006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02336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D) Extração de informações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5349240"/>
            <a:ext cx="6675120" cy="438912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16352" y="5385816"/>
            <a:ext cx="652881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59669"/>
                </a:solidFill>
                <a:latin typeface="Aptos"/>
              </a:rPr>
              <a:t>Resposta: B • nova saída = IA Generativa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Fechando o EP1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241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ptos"/>
              </a:rPr>
              <a:t>Se você sair deste episódio lembrando disso, já está ótimo: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25603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16352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284C7"/>
                </a:solidFill>
                <a:latin typeface="Aptos"/>
              </a:rPr>
              <a:t>PERCEBER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5603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816352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B21B6"/>
                </a:solidFill>
                <a:latin typeface="Aptos"/>
              </a:rPr>
              <a:t>GERAR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5603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816352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A580C"/>
                </a:solidFill>
                <a:latin typeface="Aptos"/>
              </a:rPr>
              <a:t>AGIR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77639"/>
            <a:ext cx="10241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F2937"/>
                </a:solidFill>
                <a:latin typeface="Aptos"/>
              </a:rPr>
              <a:t>IA Responsável = reconheça o risco central do cenário.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983480"/>
            <a:ext cx="8595360" cy="438912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01952" y="5020056"/>
            <a:ext cx="84490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21B6"/>
                </a:solidFill>
                <a:latin typeface="Aptos"/>
              </a:rPr>
              <a:t>Próximo: Microsoft Foundry, Prompts, Modelos e Agentes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594360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E7D"/>
                </a:solidFill>
                <a:latin typeface="Aptos"/>
              </a:rPr>
              <a:t>AI-901 • EP 1/7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