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21792"/>
            <a:ext cx="10881360" cy="5559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AI-901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80467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ptos"/>
              </a:rPr>
              <a:t>Microsoft Foundry,
Prompts, Modelos e 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154680"/>
            <a:ext cx="7863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66E7D"/>
                </a:solidFill>
                <a:latin typeface="Aptos"/>
              </a:rPr>
              <a:t>EP 2 • Da escolha do modelo até um agente funcionando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7083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62856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Aptos"/>
              </a:rPr>
              <a:t>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37083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4562856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21B6"/>
                </a:solidFill>
                <a:latin typeface="Aptos"/>
              </a:rP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562856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577900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66E7D"/>
                </a:solidFill>
                <a:latin typeface="Aptos"/>
              </a:rPr>
              <a:t>Tiago Jr.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Hoje vamos conectar as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476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9476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Microsoft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68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Onde construímos e testamos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7830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7" y="19476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284C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9476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Modelos e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468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Escolher e disponibilizar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7764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7764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4297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System × 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61188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3776472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776472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Aplicação e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297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66E7D"/>
                </a:solidFill>
                <a:latin typeface="Aptos"/>
              </a:rPr>
              <a:t>SDK, agente e ferramentas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O que é o Microsoft Foundry?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Modelos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87752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Escolher capacidades adequadas ao cenário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2024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1031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587752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Testar comportamento e instruções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92024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21031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Aptos"/>
              </a:rPr>
              <a:t>Apps e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587752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Integrar modelos e ferramentas em soluções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663440"/>
            <a:ext cx="813816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2" y="4700016"/>
            <a:ext cx="7991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Pense no Foundry como o ambiente onde essas peças se encontram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Do problema até 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3347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5968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377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63347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5968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377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63347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59669"/>
                </a:solidFill>
                <a:latin typeface="Aptos"/>
              </a:rPr>
              <a:t>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5968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377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63347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5968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377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63347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APP /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A prova quer que você reconheça onde cada peça entra.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166360"/>
            <a:ext cx="658368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5202936"/>
            <a:ext cx="64373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Entenda a sequência antes de decorar os nomes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Escolher modelo não é escolher “o maior”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21B6"/>
                </a:solidFill>
                <a:latin typeface="Aptos"/>
              </a:rPr>
              <a:t>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Chat, resumo, geração textual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6596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Aptos"/>
              </a:rPr>
              <a:t>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889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Texto + imagem/áudio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6596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24028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Aptos"/>
              </a:rPr>
              <a:t>Imagem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889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Gerar novas imagens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466344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4700016"/>
            <a:ext cx="8083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Regra: capacidade necessária primeiro, nome do modelo depois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Modelo escolhido. E agora?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Escolher o modelo não significa que sua aplicação já pode usá-lo.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90672"/>
            <a:ext cx="23317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305409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2834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3090672"/>
            <a:ext cx="23317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59669"/>
                </a:solidFill>
                <a:latin typeface="Aptos"/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305409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090672"/>
            <a:ext cx="23317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305409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28346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3090672"/>
            <a:ext cx="23317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4800600"/>
            <a:ext cx="64008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4837176"/>
            <a:ext cx="62544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Deployment = tornar o modelo disponível para uso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Antes do código: teste no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3200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33472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Você é um assistente de suporte. Seja objetivo.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200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33472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Meu pedido está atrasado. O que devo fazer?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200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ptos"/>
              </a:rPr>
              <a:t>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33472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Consulte o status do pedido e...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754880"/>
            <a:ext cx="530352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4791456"/>
            <a:ext cx="51572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Testar → ajustar → integrar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System Prompt × User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4572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21B6"/>
                </a:solidFill>
                <a:latin typeface="Aptos"/>
              </a:rP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33472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Define comportamento, papel e regras gerais.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4572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USER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33472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É a solicitação concreta daquela interação.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21B6"/>
                </a:solidFill>
                <a:latin typeface="Aptos"/>
              </a:rPr>
              <a:t>REGRAS DO JOGO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605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284C7"/>
                </a:solidFill>
                <a:latin typeface="Aptos"/>
              </a:rPr>
              <a:t>JOGADA ATUAL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074920"/>
            <a:ext cx="539496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5111496"/>
            <a:ext cx="52486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Essa associação resolve muita confusão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Prompt bom reduz ambiguidade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10149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4708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ptos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47088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O que fazer?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06039"/>
            <a:ext cx="10149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71576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15768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Com quais informações?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10149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8444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ptos"/>
              </a:rPr>
              <a:t>Formato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84448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Como responder?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343400"/>
            <a:ext cx="10149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45312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21B6"/>
                </a:solidFill>
                <a:latin typeface="Aptos"/>
              </a:rPr>
              <a:t>Limites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53128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O que evitar?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544068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9112" y="5477256"/>
            <a:ext cx="8083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Prompt eficaz = menos espaço para interpretação errada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Prompt não é a única configuração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Aptos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33472"/>
            <a:ext cx="4114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Mais baixa → mais previsível
Mais alta → mais variabilidade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965960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Limite de saída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33472"/>
            <a:ext cx="4114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Controla o tamanho máximo permitido para a resposta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800600"/>
            <a:ext cx="786384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4837176"/>
            <a:ext cx="77175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Prompt = pedido  |  parâmetros = botões de ajuste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Do Foundry para a sua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45973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FOUNDRY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45973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245973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59669"/>
                </a:solidFill>
                <a:latin typeface="Aptos"/>
              </a:rPr>
              <a:t>RESPOSTA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A aplicação envia mensagens e recebe a saída do modelo.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5029200"/>
            <a:ext cx="82296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9112" y="5065776"/>
            <a:ext cx="8083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Na AI-901, entenda o fluxo — não complique o código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Chat ×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4572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Aptos"/>
              </a:rPr>
              <a:t>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33472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Pergunta → modelo → resposta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4572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114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33472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Objetivo → decisão → tool → 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663440"/>
            <a:ext cx="59436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4700016"/>
            <a:ext cx="5797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Chat responde. Agent pode agir.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Tool = capacidade externa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45973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45973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API /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245973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2402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249631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59669"/>
                </a:solidFill>
                <a:latin typeface="Aptos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66E7D"/>
                </a:solidFill>
                <a:latin typeface="Aptos"/>
              </a:rPr>
              <a:t>Exemplos de tools: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8620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ConsultarPedido • BuscarCliente • AbrirChamado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983480"/>
            <a:ext cx="566928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5020056"/>
            <a:ext cx="5522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O LLM decide. A tool executa.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Single-agent: o que precisa existir?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B21B6"/>
                </a:solidFill>
                <a:latin typeface="Aptos"/>
              </a:rPr>
              <a:t>Instruções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4767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Como o agente deve se comportar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284C7"/>
                </a:solidFill>
                <a:latin typeface="Aptos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4767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Interpreta e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3931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Aptos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3931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Dão capacidades externas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3931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Aptos"/>
              </a:rPr>
              <a:t>Teste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3931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Valida o comportamento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5440680"/>
            <a:ext cx="896112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5477256"/>
            <a:ext cx="88148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Um agente pode ser simples e ainda ser um agente de verdade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Depois: sua aplicação conversa com o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3552" y="250545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54203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50545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4203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2505456"/>
            <a:ext cx="310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254203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59669"/>
                </a:solidFill>
                <a:latin typeface="Aptos"/>
              </a:rP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O agente já está configurado; o cliente apenas envia o objetivo e recebe o resultado.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5074920"/>
            <a:ext cx="7498079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5111496"/>
            <a:ext cx="735177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Cliente leve ≠ lógica inteira dentro da aplicação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Cenário de prova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“Verifique meu pedido e, se estiver atrasado, abra um chamado.”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90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consultar 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054096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090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21B6"/>
                </a:solidFill>
                <a:latin typeface="Aptos"/>
              </a:rPr>
              <a:t>avaliar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054096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66E7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090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abrir chamado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937760"/>
            <a:ext cx="5303520" cy="43891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4974336"/>
            <a:ext cx="51572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Aptos"/>
              </a:rPr>
              <a:t>Resposta mental: AGENT + TOOLS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Questão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Qual opção define corretamente o System Prompt?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A) A solicitação atual do usuário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B) As regras e o comportamento geral do assistente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9476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C) O endpoint do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4800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D) A tool usada pelo agente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5257800"/>
            <a:ext cx="6583680" cy="438912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5294376"/>
            <a:ext cx="64373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Aptos"/>
              </a:rPr>
              <a:t>Resposta: B • System = regras do jogo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Aptos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Fechando o EP2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82880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66E7D"/>
                </a:solidFill>
                <a:latin typeface="Aptos"/>
              </a:rPr>
              <a:t>AI-901 • EP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2199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284C7"/>
                </a:solidFill>
                <a:latin typeface="Aptos"/>
              </a:rPr>
              <a:t>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965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2199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59669"/>
                </a:solidFill>
                <a:latin typeface="Aptos"/>
              </a:rPr>
              <a:t>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65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2199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B21B6"/>
                </a:solidFill>
                <a:latin typeface="Aptos"/>
              </a:rPr>
              <a:t>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39" y="1965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39" y="2221992"/>
            <a:ext cx="2331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Aptos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149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Escolha a capacidade certa, disponibilize o modelo, oriente o comportamento e integre à solução.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4983480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2" y="5020056"/>
            <a:ext cx="4425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21B6"/>
                </a:solidFill>
                <a:latin typeface="Aptos"/>
              </a:rPr>
              <a:t>Próximo: Texto e 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9436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66E7D"/>
                </a:solidFill>
                <a:latin typeface="Aptos"/>
              </a:rPr>
              <a:t>AI-901 • EP 2/7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