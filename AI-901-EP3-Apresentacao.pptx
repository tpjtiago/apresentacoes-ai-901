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_rels/presentation.xml.rels" ContentType="application/vnd.openxmlformats-package.relationships+xml"/>
  <Override PartName="/ppt/presentation.xml" ContentType="application/vnd.openxmlformats-officedocument.presentationml.presentation.main+xml"/>
  <Override PartName="/ppt/slideMasters/_rels/slideMaster11.xml.rels" ContentType="application/vnd.openxmlformats-package.relationships+xml"/>
  <Override PartName="/ppt/slideMasters/_rels/slideMaster5.xml.rels" ContentType="application/vnd.openxmlformats-package.relationships+xml"/>
  <Override PartName="/ppt/slideMasters/_rels/slideMaster10.xml.rels" ContentType="application/vnd.openxmlformats-package.relationships+xml"/>
  <Override PartName="/ppt/slideMasters/_rels/slideMaster4.xml.rels" ContentType="application/vnd.openxmlformats-package.relationships+xml"/>
  <Override PartName="/ppt/slideMasters/_rels/slideMaster9.xml.rels" ContentType="application/vnd.openxmlformats-package.relationships+xml"/>
  <Override PartName="/ppt/slideMasters/_rels/slideMaster8.xml.rels" ContentType="application/vnd.openxmlformats-package.relationships+xml"/>
  <Override PartName="/ppt/slideMasters/_rels/slideMaster7.xml.rels" ContentType="application/vnd.openxmlformats-package.relationships+xml"/>
  <Override PartName="/ppt/slideMasters/_rels/slideMaster6.xml.rels" ContentType="application/vnd.openxmlformats-package.relationships+xml"/>
  <Override PartName="/ppt/slideMasters/_rels/slideMaster3.xml.rels" ContentType="application/vnd.openxmlformats-package.relationships+xml"/>
  <Override PartName="/ppt/slideMasters/_rels/slideMaster2.xml.rels" ContentType="application/vnd.openxmlformats-package.relationships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Masters/slideMaster9.xml" ContentType="application/vnd.openxmlformats-officedocument.presentationml.slideMaster+xml"/>
  <Override PartName="/ppt/slideMasters/slideMaster10.xml" ContentType="application/vnd.openxmlformats-officedocument.presentationml.slideMaster+xml"/>
  <Override PartName="/ppt/slideMasters/slideMaster11.xml" ContentType="application/vnd.openxmlformats-officedocument.presentationml.slideMaster+xml"/>
  <Override PartName="/ppt/presProps.xml" ContentType="application/vnd.openxmlformats-officedocument.presentationml.presProps+xml"/>
  <Override PartName="/ppt/theme/theme1.xml" ContentType="application/vnd.openxmlformats-officedocument.theme+xml"/>
  <Override PartName="/ppt/theme/theme1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theme/theme6.xml" ContentType="application/vnd.openxmlformats-officedocument.theme+xml"/>
  <Override PartName="/ppt/theme/theme7.xml" ContentType="application/vnd.openxmlformats-officedocument.theme+xml"/>
  <Override PartName="/ppt/theme/theme8.xml" ContentType="application/vnd.openxmlformats-officedocument.theme+xml"/>
  <Override PartName="/ppt/theme/theme9.xml" ContentType="application/vnd.openxmlformats-officedocument.theme+xml"/>
  <Override PartName="/ppt/theme/theme10.xml" ContentType="application/vnd.openxmlformats-officedocument.theme+xml"/>
  <Override PartName="/ppt/slideLayouts/_rels/slideLayout2.xml.rels" ContentType="application/vnd.openxmlformats-package.relationships+xml"/>
  <Override PartName="/ppt/slideLayouts/_rels/slideLayout1.xml.rels" ContentType="application/vnd.openxmlformats-package.relationship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s/_rels/slide5.xml.rels" ContentType="application/vnd.openxmlformats-package.relationships+xml"/>
  <Override PartName="/ppt/slides/_rels/slide19.xml.rels" ContentType="application/vnd.openxmlformats-package.relationships+xml"/>
  <Override PartName="/ppt/slides/_rels/slide4.xml.rels" ContentType="application/vnd.openxmlformats-package.relationships+xml"/>
  <Override PartName="/ppt/slides/_rels/slide6.xml.rels" ContentType="application/vnd.openxmlformats-package.relationships+xml"/>
  <Override PartName="/ppt/slides/_rels/slide20.xml.rels" ContentType="application/vnd.openxmlformats-package.relationships+xml"/>
  <Override PartName="/ppt/slides/_rels/slide18.xml.rels" ContentType="application/vnd.openxmlformats-package.relationships+xml"/>
  <Override PartName="/ppt/slides/_rels/slide3.xml.rels" ContentType="application/vnd.openxmlformats-package.relationships+xml"/>
  <Override PartName="/ppt/slides/_rels/slide13.xml.rels" ContentType="application/vnd.openxmlformats-package.relationships+xml"/>
  <Override PartName="/ppt/slides/_rels/slide12.xml.rels" ContentType="application/vnd.openxmlformats-package.relationships+xml"/>
  <Override PartName="/ppt/slides/_rels/slide9.xml.rels" ContentType="application/vnd.openxmlformats-package.relationships+xml"/>
  <Override PartName="/ppt/slides/_rels/slide11.xml.rels" ContentType="application/vnd.openxmlformats-package.relationships+xml"/>
  <Override PartName="/ppt/slides/_rels/slide8.xml.rels" ContentType="application/vnd.openxmlformats-package.relationships+xml"/>
  <Override PartName="/ppt/slides/_rels/slide10.xml.rels" ContentType="application/vnd.openxmlformats-package.relationships+xml"/>
  <Override PartName="/ppt/slides/_rels/slide7.xml.rels" ContentType="application/vnd.openxmlformats-package.relationships+xml"/>
  <Override PartName="/ppt/slides/_rels/slide14.xml.rels" ContentType="application/vnd.openxmlformats-package.relationships+xml"/>
  <Override PartName="/ppt/slides/_rels/slide15.xml.rels" ContentType="application/vnd.openxmlformats-package.relationships+xml"/>
  <Override PartName="/ppt/slides/_rels/slide1.xml.rels" ContentType="application/vnd.openxmlformats-package.relationships+xml"/>
  <Override PartName="/ppt/slides/_rels/slide16.xml.rels" ContentType="application/vnd.openxmlformats-package.relationships+xml"/>
  <Override PartName="/ppt/slides/_rels/slide2.xml.rels" ContentType="application/vnd.openxmlformats-package.relationships+xml"/>
  <Override PartName="/ppt/slides/_rels/slide17.xml.rels" ContentType="application/vnd.openxmlformats-package.relationships+xml"/>
  <Override PartName="/ppt/slides/slide13.xml" ContentType="application/vnd.openxmlformats-officedocument.presentationml.slide+xml"/>
  <Override PartName="/ppt/slides/slide12.xml" ContentType="application/vnd.openxmlformats-officedocument.presentationml.slide+xml"/>
  <Override PartName="/ppt/slides/slide9.xml" ContentType="application/vnd.openxmlformats-officedocument.presentationml.slide+xml"/>
  <Override PartName="/ppt/slides/slide11.xml" ContentType="application/vnd.openxmlformats-officedocument.presentationml.slide+xml"/>
  <Override PartName="/ppt/slides/slide8.xml" ContentType="application/vnd.openxmlformats-officedocument.presentationml.slide+xml"/>
  <Override PartName="/ppt/slides/slide10.xml" ContentType="application/vnd.openxmlformats-officedocument.presentationml.slide+xml"/>
  <Override PartName="/ppt/slides/slide7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17.xml" ContentType="application/vnd.openxmlformats-officedocument.presentationml.slide+xml"/>
  <Override PartName="/ppt/slides/slide3.xml" ContentType="application/vnd.openxmlformats-officedocument.presentationml.slide+xml"/>
  <Override PartName="/ppt/slides/slide19.xml" ContentType="application/vnd.openxmlformats-officedocument.presentationml.slide+xml"/>
  <Override PartName="/ppt/slides/slide5.xml" ContentType="application/vnd.openxmlformats-officedocument.presentationml.slide+xml"/>
  <Override PartName="/ppt/slides/slide18.xml" ContentType="application/vnd.openxmlformats-officedocument.presentationml.slide+xml"/>
  <Override PartName="/ppt/slides/slide20.xml" ContentType="application/vnd.openxmlformats-officedocument.presentationml.slide+xml"/>
  <Override PartName="/ppt/slides/slide4.xml" ContentType="application/vnd.openxmlformats-officedocument.presentationml.slide+xml"/>
  <Override PartName="/ppt/slides/slide6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officedocument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49" r:id="rId3"/>
    <p:sldMasterId id="2147483650" r:id="rId4"/>
    <p:sldMasterId id="2147483651" r:id="rId5"/>
    <p:sldMasterId id="2147483652" r:id="rId6"/>
    <p:sldMasterId id="2147483653" r:id="rId7"/>
    <p:sldMasterId id="2147483654" r:id="rId8"/>
    <p:sldMasterId id="2147483655" r:id="rId9"/>
    <p:sldMasterId id="2147483656" r:id="rId10"/>
    <p:sldMasterId id="2147483659" r:id="rId11"/>
    <p:sldMasterId id="2147483660" r:id="rId12"/>
  </p:sldMasterIdLst>
  <p:sldIdLst>
    <p:sldId id="256" r:id="rId13"/>
    <p:sldId id="257" r:id="rId14"/>
    <p:sldId id="258" r:id="rId15"/>
    <p:sldId id="259" r:id="rId16"/>
    <p:sldId id="260" r:id="rId17"/>
    <p:sldId id="261" r:id="rId18"/>
    <p:sldId id="262" r:id="rId19"/>
    <p:sldId id="263" r:id="rId20"/>
    <p:sldId id="264" r:id="rId21"/>
    <p:sldId id="265" r:id="rId22"/>
    <p:sldId id="266" r:id="rId23"/>
    <p:sldId id="267" r:id="rId24"/>
    <p:sldId id="268" r:id="rId25"/>
    <p:sldId id="269" r:id="rId26"/>
    <p:sldId id="270" r:id="rId27"/>
    <p:sldId id="271" r:id="rId28"/>
    <p:sldId id="272" r:id="rId29"/>
    <p:sldId id="273" r:id="rId30"/>
    <p:sldId id="274" r:id="rId31"/>
    <p:sldId id="275" r:id="rId32"/>
  </p:sldIdLst>
  <p:sldSz cx="12192000" cy="6858000"/>
  <p:notesSz cx="7559675" cy="10691813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Master" Target="slideMasters/slideMaster3.xml"/><Relationship Id="rId5" Type="http://schemas.openxmlformats.org/officeDocument/2006/relationships/slideMaster" Target="slideMasters/slideMaster4.xml"/><Relationship Id="rId6" Type="http://schemas.openxmlformats.org/officeDocument/2006/relationships/slideMaster" Target="slideMasters/slideMaster5.xml"/><Relationship Id="rId7" Type="http://schemas.openxmlformats.org/officeDocument/2006/relationships/slideMaster" Target="slideMasters/slideMaster6.xml"/><Relationship Id="rId8" Type="http://schemas.openxmlformats.org/officeDocument/2006/relationships/slideMaster" Target="slideMasters/slideMaster7.xml"/><Relationship Id="rId9" Type="http://schemas.openxmlformats.org/officeDocument/2006/relationships/slideMaster" Target="slideMasters/slideMaster8.xml"/><Relationship Id="rId10" Type="http://schemas.openxmlformats.org/officeDocument/2006/relationships/slideMaster" Target="slideMasters/slideMaster9.xml"/><Relationship Id="rId11" Type="http://schemas.openxmlformats.org/officeDocument/2006/relationships/slideMaster" Target="slideMasters/slideMaster10.xml"/><Relationship Id="rId12" Type="http://schemas.openxmlformats.org/officeDocument/2006/relationships/slideMaster" Target="slideMasters/slideMaster11.xml"/><Relationship Id="rId13" Type="http://schemas.openxmlformats.org/officeDocument/2006/relationships/slide" Target="slides/slide1.xml"/><Relationship Id="rId14" Type="http://schemas.openxmlformats.org/officeDocument/2006/relationships/slide" Target="slides/slide2.xml"/><Relationship Id="rId15" Type="http://schemas.openxmlformats.org/officeDocument/2006/relationships/slide" Target="slides/slide3.xml"/><Relationship Id="rId16" Type="http://schemas.openxmlformats.org/officeDocument/2006/relationships/slide" Target="slides/slide4.xml"/><Relationship Id="rId17" Type="http://schemas.openxmlformats.org/officeDocument/2006/relationships/slide" Target="slides/slide5.xml"/><Relationship Id="rId18" Type="http://schemas.openxmlformats.org/officeDocument/2006/relationships/slide" Target="slides/slide6.xml"/><Relationship Id="rId19" Type="http://schemas.openxmlformats.org/officeDocument/2006/relationships/slide" Target="slides/slide7.xml"/><Relationship Id="rId20" Type="http://schemas.openxmlformats.org/officeDocument/2006/relationships/slide" Target="slides/slide8.xml"/><Relationship Id="rId21" Type="http://schemas.openxmlformats.org/officeDocument/2006/relationships/slide" Target="slides/slide9.xml"/><Relationship Id="rId22" Type="http://schemas.openxmlformats.org/officeDocument/2006/relationships/slide" Target="slides/slide10.xml"/><Relationship Id="rId23" Type="http://schemas.openxmlformats.org/officeDocument/2006/relationships/slide" Target="slides/slide11.xml"/><Relationship Id="rId24" Type="http://schemas.openxmlformats.org/officeDocument/2006/relationships/slide" Target="slides/slide12.xml"/><Relationship Id="rId25" Type="http://schemas.openxmlformats.org/officeDocument/2006/relationships/slide" Target="slides/slide13.xml"/><Relationship Id="rId26" Type="http://schemas.openxmlformats.org/officeDocument/2006/relationships/slide" Target="slides/slide14.xml"/><Relationship Id="rId27" Type="http://schemas.openxmlformats.org/officeDocument/2006/relationships/slide" Target="slides/slide15.xml"/><Relationship Id="rId28" Type="http://schemas.openxmlformats.org/officeDocument/2006/relationships/slide" Target="slides/slide16.xml"/><Relationship Id="rId29" Type="http://schemas.openxmlformats.org/officeDocument/2006/relationships/slide" Target="slides/slide17.xml"/><Relationship Id="rId30" Type="http://schemas.openxmlformats.org/officeDocument/2006/relationships/slide" Target="slides/slide18.xml"/><Relationship Id="rId31" Type="http://schemas.openxmlformats.org/officeDocument/2006/relationships/slide" Target="slides/slide19.xml"/><Relationship Id="rId32" Type="http://schemas.openxmlformats.org/officeDocument/2006/relationships/slide" Target="slides/slide20.xml"/><Relationship Id="rId33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9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9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6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27"/>
          </p:nvPr>
        </p:nvSpPr>
        <p:spPr/>
        <p:txBody>
          <a:bodyPr/>
          <a:p>
            <a:fld id="{8DA83C4C-ACA1-453D-AF6F-37217FD17DD6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25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>
              <a:buNone/>
            </a:pPr>
            <a:endParaRPr b="0" lang="en-US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8" name="PlaceHolder 2"/>
          <p:cNvSpPr>
            <a:spLocks noGrp="1"/>
          </p:cNvSpPr>
          <p:nvPr>
            <p:ph type="subTitle"/>
          </p:nvPr>
        </p:nvSpPr>
        <p:spPr>
          <a:xfrm>
            <a:off x="609480" y="1604520"/>
            <a:ext cx="109720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buNone/>
            </a:pP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6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27"/>
          </p:nvPr>
        </p:nvSpPr>
        <p:spPr/>
        <p:txBody>
          <a:bodyPr/>
          <a:p>
            <a:fld id="{21578F14-5BE7-4ED5-BF88-2591366B3D16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25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
</Relationships>
</file>

<file path=ppt/slideMasters/_rels/slideMaster3.xml.rels><?xml version="1.0" encoding="UTF-8"?>
<Relationships xmlns="http://schemas.openxmlformats.org/package/2006/relationships"><Relationship Id="rId1" Type="http://schemas.openxmlformats.org/officeDocument/2006/relationships/theme" Target="../theme/theme3.xml"/>
</Relationships>
</file>

<file path=ppt/slideMasters/_rels/slideMaster4.xml.rels><?xml version="1.0" encoding="UTF-8"?>
<Relationships xmlns="http://schemas.openxmlformats.org/package/2006/relationships"><Relationship Id="rId1" Type="http://schemas.openxmlformats.org/officeDocument/2006/relationships/theme" Target="../theme/theme4.xml"/>
</Relationships>
</file>

<file path=ppt/slideMasters/_rels/slideMaster5.xml.rels><?xml version="1.0" encoding="UTF-8"?>
<Relationships xmlns="http://schemas.openxmlformats.org/package/2006/relationships"><Relationship Id="rId1" Type="http://schemas.openxmlformats.org/officeDocument/2006/relationships/theme" Target="../theme/theme5.xml"/>
</Relationships>
</file>

<file path=ppt/slideMasters/_rels/slideMaster6.xml.rels><?xml version="1.0" encoding="UTF-8"?>
<Relationships xmlns="http://schemas.openxmlformats.org/package/2006/relationships"><Relationship Id="rId1" Type="http://schemas.openxmlformats.org/officeDocument/2006/relationships/theme" Target="../theme/theme6.xml"/>
</Relationships>
</file>

<file path=ppt/slideMasters/_rels/slideMaster7.xml.rels><?xml version="1.0" encoding="UTF-8"?>
<Relationships xmlns="http://schemas.openxmlformats.org/package/2006/relationships"><Relationship Id="rId1" Type="http://schemas.openxmlformats.org/officeDocument/2006/relationships/theme" Target="../theme/theme7.xml"/>
</Relationships>
</file>

<file path=ppt/slideMasters/_rels/slideMaster8.xml.rels><?xml version="1.0" encoding="UTF-8"?>
<Relationships xmlns="http://schemas.openxmlformats.org/package/2006/relationships"><Relationship Id="rId1" Type="http://schemas.openxmlformats.org/officeDocument/2006/relationships/theme" Target="../theme/theme8.xml"/>
</Relationships>
</file>

<file path=ppt/slideMasters/_rels/slideMaster9.xml.rels><?xml version="1.0" encoding="UTF-8"?>
<Relationships xmlns="http://schemas.openxmlformats.org/package/2006/relationships"><Relationship Id="rId1" Type="http://schemas.openxmlformats.org/officeDocument/2006/relationships/theme" Target="../theme/theme9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
</Relationships>
</file>

<file path=ppt/slideMasters/_rels/slideMaster10.xml.rels><?xml version="1.0" encoding="UTF-8"?>
<Relationships xmlns="http://schemas.openxmlformats.org/package/2006/relationships"><Relationship Id="rId1" Type="http://schemas.openxmlformats.org/officeDocument/2006/relationships/theme" Target="../theme/theme10.xml"/>
</Relationships>
</file>

<file path=ppt/slideMasters/_rels/slideMaster11.xml.rels><?xml version="1.0" encoding="UTF-8"?>
<Relationships xmlns="http://schemas.openxmlformats.org/package/2006/relationships"><Relationship Id="rId1" Type="http://schemas.openxmlformats.org/officeDocument/2006/relationships/theme" Target="../theme/theme1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685800" y="2130480"/>
            <a:ext cx="7772040" cy="14695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b="0" lang="en-US" sz="4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b="0" lang="en-US" sz="4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dt" idx="1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ftr" idx="2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sldNum" idx="3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D6F40F80-36B5-41FF-B8E4-BF51244026E1}" type="slidenum"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/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b="0" lang="en-US" sz="4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b="0" lang="en-US" sz="4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 vert="eaVert">
            <a:noAutofit/>
          </a:bodyPr>
          <a:p>
            <a:pPr marL="432000" indent="-32400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b="0" lang="en-US" sz="3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1" marL="864000" indent="-32400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b="0" lang="en-US" sz="2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2" marL="1296000" indent="-28800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3" marL="1728000" indent="-2160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4" marL="2160000" indent="-2160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6" name="PlaceHolder 3"/>
          <p:cNvSpPr>
            <a:spLocks noGrp="1"/>
          </p:cNvSpPr>
          <p:nvPr>
            <p:ph type="dt" idx="4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" name="PlaceHolder 4"/>
          <p:cNvSpPr>
            <a:spLocks noGrp="1"/>
          </p:cNvSpPr>
          <p:nvPr>
            <p:ph type="ftr" idx="5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" name="PlaceHolder 5"/>
          <p:cNvSpPr>
            <a:spLocks noGrp="1"/>
          </p:cNvSpPr>
          <p:nvPr>
            <p:ph type="sldNum" idx="6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CFC511A5-44ED-45FE-BB04-608F0E92A908}" type="slidenum"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/>
</p:sldMaster>
</file>

<file path=ppt/slideMasters/slideMaster3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ceHolder 1"/>
          <p:cNvSpPr>
            <a:spLocks noGrp="1"/>
          </p:cNvSpPr>
          <p:nvPr>
            <p:ph type="title"/>
          </p:nvPr>
        </p:nvSpPr>
        <p:spPr>
          <a:xfrm>
            <a:off x="6629400" y="274680"/>
            <a:ext cx="2057040" cy="58510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 anchorCtr="1" vert="eaVert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b="0" lang="en-US" sz="4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b="0" lang="en-US" sz="4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0" name="PlaceHolder 2"/>
          <p:cNvSpPr>
            <a:spLocks noGrp="1"/>
          </p:cNvSpPr>
          <p:nvPr>
            <p:ph type="body"/>
          </p:nvPr>
        </p:nvSpPr>
        <p:spPr>
          <a:xfrm>
            <a:off x="457200" y="274680"/>
            <a:ext cx="6019560" cy="58510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 vert="eaVert">
            <a:noAutofit/>
          </a:bodyPr>
          <a:p>
            <a:pPr marL="432000" indent="-32400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b="0" lang="en-US" sz="3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1" marL="864000" indent="-32400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b="0" lang="en-US" sz="2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2" marL="1296000" indent="-28800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3" marL="1728000" indent="-2160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4" marL="2160000" indent="-2160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1" name="PlaceHolder 3"/>
          <p:cNvSpPr>
            <a:spLocks noGrp="1"/>
          </p:cNvSpPr>
          <p:nvPr>
            <p:ph type="dt" idx="7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" name="PlaceHolder 4"/>
          <p:cNvSpPr>
            <a:spLocks noGrp="1"/>
          </p:cNvSpPr>
          <p:nvPr>
            <p:ph type="ftr" idx="8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" name="PlaceHolder 5"/>
          <p:cNvSpPr>
            <a:spLocks noGrp="1"/>
          </p:cNvSpPr>
          <p:nvPr>
            <p:ph type="sldNum" idx="9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9E1E56A6-F5A1-4CED-A71E-301D761042FC}" type="slidenum"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/>
</p:sldMaster>
</file>

<file path=ppt/slideMasters/slideMaster4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b="0" lang="en-US" sz="4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b="0" lang="en-US" sz="4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5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432000" indent="-32400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b="0" lang="en-US" sz="3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1" marL="864000" indent="-32400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b="0" lang="en-US" sz="2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2" marL="1296000" indent="-28800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3" marL="1728000" indent="-2160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4" marL="2160000" indent="-2160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6" name="PlaceHolder 3"/>
          <p:cNvSpPr>
            <a:spLocks noGrp="1"/>
          </p:cNvSpPr>
          <p:nvPr>
            <p:ph type="dt" idx="10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" name="PlaceHolder 4"/>
          <p:cNvSpPr>
            <a:spLocks noGrp="1"/>
          </p:cNvSpPr>
          <p:nvPr>
            <p:ph type="ftr" idx="11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" name="PlaceHolder 5"/>
          <p:cNvSpPr>
            <a:spLocks noGrp="1"/>
          </p:cNvSpPr>
          <p:nvPr>
            <p:ph type="sldNum" idx="12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1673923D-0025-4111-9095-39222FB74C4B}" type="slidenum"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/>
</p:sldMaster>
</file>

<file path=ppt/slideMasters/slideMaster5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laceHolder 1"/>
          <p:cNvSpPr>
            <a:spLocks noGrp="1"/>
          </p:cNvSpPr>
          <p:nvPr>
            <p:ph type="title"/>
          </p:nvPr>
        </p:nvSpPr>
        <p:spPr>
          <a:xfrm>
            <a:off x="722160" y="4406760"/>
            <a:ext cx="7772040" cy="13618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457200">
              <a:lnSpc>
                <a:spcPct val="100000"/>
              </a:lnSpc>
              <a:buNone/>
            </a:pPr>
            <a:r>
              <a:rPr b="1" lang="en-US" sz="4000" strike="noStrike" u="none" cap="all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b="0" lang="en-US" sz="4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0" name="PlaceHolder 2"/>
          <p:cNvSpPr>
            <a:spLocks noGrp="1"/>
          </p:cNvSpPr>
          <p:nvPr>
            <p:ph type="body"/>
          </p:nvPr>
        </p:nvSpPr>
        <p:spPr>
          <a:xfrm>
            <a:off x="722160" y="2906640"/>
            <a:ext cx="7772040" cy="14997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marL="432000" indent="-3240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algn="l" pos="0"/>
              </a:tabLst>
            </a:pPr>
            <a:r>
              <a:rPr b="0" lang="en-US" sz="20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Click to edit Master text styles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1" name="PlaceHolder 3"/>
          <p:cNvSpPr>
            <a:spLocks noGrp="1"/>
          </p:cNvSpPr>
          <p:nvPr>
            <p:ph type="dt" idx="13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" name="PlaceHolder 4"/>
          <p:cNvSpPr>
            <a:spLocks noGrp="1"/>
          </p:cNvSpPr>
          <p:nvPr>
            <p:ph type="ftr" idx="14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3" name="PlaceHolder 5"/>
          <p:cNvSpPr>
            <a:spLocks noGrp="1"/>
          </p:cNvSpPr>
          <p:nvPr>
            <p:ph type="sldNum" idx="15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C2C8BB9A-DBAE-422C-AE95-C628CF95FCB4}" type="slidenum"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/>
</p:sldMaster>
</file>

<file path=ppt/slideMasters/slideMaster6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b="0" lang="en-US" sz="4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b="0" lang="en-US" sz="4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5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4038120" cy="4525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432000" indent="-32400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b="0" lang="en-US" sz="2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1" marL="864000" indent="-32400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2" marL="1296000" indent="-2880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3" marL="1728000" indent="-216000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4" marL="2160000" indent="-216000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6" name="PlaceHolder 3"/>
          <p:cNvSpPr>
            <a:spLocks noGrp="1"/>
          </p:cNvSpPr>
          <p:nvPr>
            <p:ph type="body"/>
          </p:nvPr>
        </p:nvSpPr>
        <p:spPr>
          <a:xfrm>
            <a:off x="4648320" y="1600200"/>
            <a:ext cx="4038120" cy="4525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b="0" lang="en-US" sz="2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2" marL="11430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3" marL="1600200" indent="-228600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4" marL="2057400" indent="-228600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7" name="PlaceHolder 4"/>
          <p:cNvSpPr>
            <a:spLocks noGrp="1"/>
          </p:cNvSpPr>
          <p:nvPr>
            <p:ph type="dt" idx="16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8" name="PlaceHolder 5"/>
          <p:cNvSpPr>
            <a:spLocks noGrp="1"/>
          </p:cNvSpPr>
          <p:nvPr>
            <p:ph type="ftr" idx="17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9" name="PlaceHolder 6"/>
          <p:cNvSpPr>
            <a:spLocks noGrp="1"/>
          </p:cNvSpPr>
          <p:nvPr>
            <p:ph type="sldNum" idx="18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54CB88A3-D785-4808-B225-E1A04497484E}" type="slidenum"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/>
</p:sldMaster>
</file>

<file path=ppt/slideMasters/slideMaster7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b="0" lang="en-US" sz="4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b="0" lang="en-US" sz="4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1" name="PlaceHolder 2"/>
          <p:cNvSpPr>
            <a:spLocks noGrp="1"/>
          </p:cNvSpPr>
          <p:nvPr>
            <p:ph type="body"/>
          </p:nvPr>
        </p:nvSpPr>
        <p:spPr>
          <a:xfrm>
            <a:off x="457200" y="1535040"/>
            <a:ext cx="4039920" cy="6393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marL="432000" indent="-32400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algn="l" pos="0"/>
              </a:tabLst>
            </a:pPr>
            <a:r>
              <a:rPr b="1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2" name="PlaceHolder 3"/>
          <p:cNvSpPr>
            <a:spLocks noGrp="1"/>
          </p:cNvSpPr>
          <p:nvPr>
            <p:ph type="body"/>
          </p:nvPr>
        </p:nvSpPr>
        <p:spPr>
          <a:xfrm>
            <a:off x="457200" y="2174760"/>
            <a:ext cx="4039920" cy="3951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2" marL="1143000" indent="-228600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3" marL="1600200" indent="-228600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16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b="0" lang="en-US" sz="16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4" marL="2057400" indent="-228600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16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b="0" lang="en-US" sz="16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3" name="PlaceHolder 4"/>
          <p:cNvSpPr>
            <a:spLocks noGrp="1"/>
          </p:cNvSpPr>
          <p:nvPr>
            <p:ph type="body"/>
          </p:nvPr>
        </p:nvSpPr>
        <p:spPr>
          <a:xfrm>
            <a:off x="4645080" y="1535040"/>
            <a:ext cx="4041360" cy="6393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457200">
              <a:lnSpc>
                <a:spcPct val="100000"/>
              </a:lnSpc>
              <a:spcBef>
                <a:spcPts val="479"/>
              </a:spcBef>
              <a:buNone/>
              <a:tabLst>
                <a:tab algn="l" pos="0"/>
              </a:tabLst>
            </a:pPr>
            <a:r>
              <a:rPr b="1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4" name="PlaceHolder 5"/>
          <p:cNvSpPr>
            <a:spLocks noGrp="1"/>
          </p:cNvSpPr>
          <p:nvPr>
            <p:ph type="body"/>
          </p:nvPr>
        </p:nvSpPr>
        <p:spPr>
          <a:xfrm>
            <a:off x="4645080" y="2174760"/>
            <a:ext cx="4041360" cy="3951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2" marL="1143000" indent="-228600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3" marL="1600200" indent="-228600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16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b="0" lang="en-US" sz="16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4" marL="2057400" indent="-228600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16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b="0" lang="en-US" sz="16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5" name="PlaceHolder 6"/>
          <p:cNvSpPr>
            <a:spLocks noGrp="1"/>
          </p:cNvSpPr>
          <p:nvPr>
            <p:ph type="dt" idx="19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6" name="PlaceHolder 7"/>
          <p:cNvSpPr>
            <a:spLocks noGrp="1"/>
          </p:cNvSpPr>
          <p:nvPr>
            <p:ph type="ftr" idx="20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7" name="PlaceHolder 8"/>
          <p:cNvSpPr>
            <a:spLocks noGrp="1"/>
          </p:cNvSpPr>
          <p:nvPr>
            <p:ph type="sldNum" idx="21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C4CBEAEE-DB60-4A23-B43C-908EA3BEDE29}" type="slidenum"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/>
</p:sldMaster>
</file>

<file path=ppt/slideMasters/slideMaster8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b="0" lang="en-US" sz="4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b="0" lang="en-US" sz="4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9" name="PlaceHolder 2"/>
          <p:cNvSpPr>
            <a:spLocks noGrp="1"/>
          </p:cNvSpPr>
          <p:nvPr>
            <p:ph type="dt" idx="22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0" name="PlaceHolder 3"/>
          <p:cNvSpPr>
            <a:spLocks noGrp="1"/>
          </p:cNvSpPr>
          <p:nvPr>
            <p:ph type="ftr" idx="23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1" name="PlaceHolder 4"/>
          <p:cNvSpPr>
            <a:spLocks noGrp="1"/>
          </p:cNvSpPr>
          <p:nvPr>
            <p:ph type="sldNum" idx="24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B5500EA1-27C5-47C0-89EE-A5A38651658A}" type="slidenum"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/>
</p:sldMaster>
</file>

<file path=ppt/slideMasters/slideMaster9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PlaceHolder 1"/>
          <p:cNvSpPr>
            <a:spLocks noGrp="1"/>
          </p:cNvSpPr>
          <p:nvPr>
            <p:ph type="dt" idx="25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3" name="PlaceHolder 2"/>
          <p:cNvSpPr>
            <a:spLocks noGrp="1"/>
          </p:cNvSpPr>
          <p:nvPr>
            <p:ph type="ftr" idx="26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4" name="PlaceHolder 3"/>
          <p:cNvSpPr>
            <a:spLocks noGrp="1"/>
          </p:cNvSpPr>
          <p:nvPr>
            <p:ph type="sldNum" idx="27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00960695-798B-4BD8-98FB-42079F38F813}" type="slidenum"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5" name="PlaceHolder 4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the title text format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6" name="PlaceHolder 5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0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the outline text format</a:t>
            </a:r>
            <a:endParaRPr b="0" lang="en-US" sz="3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Second Outline Level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Third Outline Level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Fourth Outline Level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Fifth Outline Level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Sixth Outline Level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Seventh Outline Level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7" r:id="rId2"/>
    <p:sldLayoutId id="2147483658" r:id="rId3"/>
  </p:sldLayoutIdLst>
</p:sldMaster>
</file>

<file path=ppt/slideMasters/slideMaster10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PlaceHolder 1"/>
          <p:cNvSpPr>
            <a:spLocks noGrp="1"/>
          </p:cNvSpPr>
          <p:nvPr>
            <p:ph type="title"/>
          </p:nvPr>
        </p:nvSpPr>
        <p:spPr>
          <a:xfrm>
            <a:off x="457200" y="272880"/>
            <a:ext cx="3007800" cy="11617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457200">
              <a:lnSpc>
                <a:spcPct val="100000"/>
              </a:lnSpc>
              <a:buNone/>
            </a:pPr>
            <a:r>
              <a:rPr b="1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0" name="PlaceHolder 2"/>
          <p:cNvSpPr>
            <a:spLocks noGrp="1"/>
          </p:cNvSpPr>
          <p:nvPr>
            <p:ph type="body"/>
          </p:nvPr>
        </p:nvSpPr>
        <p:spPr>
          <a:xfrm>
            <a:off x="3575160" y="272880"/>
            <a:ext cx="5111280" cy="58528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432000" indent="-32400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b="0" lang="en-US" sz="3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1" marL="864000" indent="-32400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b="0" lang="en-US" sz="2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2" marL="1296000" indent="-28800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3" marL="1728000" indent="-2160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4" marL="2160000" indent="-2160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1" name="PlaceHolder 3"/>
          <p:cNvSpPr>
            <a:spLocks noGrp="1"/>
          </p:cNvSpPr>
          <p:nvPr>
            <p:ph type="body"/>
          </p:nvPr>
        </p:nvSpPr>
        <p:spPr>
          <a:xfrm>
            <a:off x="457200" y="1434960"/>
            <a:ext cx="3007800" cy="4690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457200">
              <a:lnSpc>
                <a:spcPct val="100000"/>
              </a:lnSpc>
              <a:spcBef>
                <a:spcPts val="281"/>
              </a:spcBef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b="0" lang="en-US" sz="1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2" name="PlaceHolder 4"/>
          <p:cNvSpPr>
            <a:spLocks noGrp="1"/>
          </p:cNvSpPr>
          <p:nvPr>
            <p:ph type="dt" idx="28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3" name="PlaceHolder 5"/>
          <p:cNvSpPr>
            <a:spLocks noGrp="1"/>
          </p:cNvSpPr>
          <p:nvPr>
            <p:ph type="ftr" idx="29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4" name="PlaceHolder 6"/>
          <p:cNvSpPr>
            <a:spLocks noGrp="1"/>
          </p:cNvSpPr>
          <p:nvPr>
            <p:ph type="sldNum" idx="30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680923E8-4CE1-4DB1-9C7B-C1C8E2B2F2D1}" type="slidenum"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/>
</p:sldMaster>
</file>

<file path=ppt/slideMasters/slideMaster1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PlaceHolder 1"/>
          <p:cNvSpPr>
            <a:spLocks noGrp="1"/>
          </p:cNvSpPr>
          <p:nvPr>
            <p:ph type="title"/>
          </p:nvPr>
        </p:nvSpPr>
        <p:spPr>
          <a:xfrm>
            <a:off x="1792440" y="4800600"/>
            <a:ext cx="5486040" cy="566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457200">
              <a:lnSpc>
                <a:spcPct val="100000"/>
              </a:lnSpc>
              <a:buNone/>
            </a:pPr>
            <a:r>
              <a:rPr b="1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6" name="PlaceHolder 2"/>
          <p:cNvSpPr>
            <a:spLocks noGrp="1"/>
          </p:cNvSpPr>
          <p:nvPr>
            <p:ph type="body"/>
          </p:nvPr>
        </p:nvSpPr>
        <p:spPr>
          <a:xfrm>
            <a:off x="1792440" y="61272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the outline text format</a:t>
            </a:r>
            <a:endParaRPr b="0" lang="en-US" sz="3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Second Outline Level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Third Outline Level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Fourth Outline Level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Fifth Outline Level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Sixth Outline Level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Seventh Outline Level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7" name="PlaceHolder 3"/>
          <p:cNvSpPr>
            <a:spLocks noGrp="1"/>
          </p:cNvSpPr>
          <p:nvPr>
            <p:ph type="body"/>
          </p:nvPr>
        </p:nvSpPr>
        <p:spPr>
          <a:xfrm>
            <a:off x="1792440" y="5367240"/>
            <a:ext cx="5486040" cy="804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457200">
              <a:lnSpc>
                <a:spcPct val="100000"/>
              </a:lnSpc>
              <a:spcBef>
                <a:spcPts val="281"/>
              </a:spcBef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b="0" lang="en-US" sz="1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8" name="PlaceHolder 4"/>
          <p:cNvSpPr>
            <a:spLocks noGrp="1"/>
          </p:cNvSpPr>
          <p:nvPr>
            <p:ph type="dt" idx="31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9" name="PlaceHolder 5"/>
          <p:cNvSpPr>
            <a:spLocks noGrp="1"/>
          </p:cNvSpPr>
          <p:nvPr>
            <p:ph type="ftr" idx="32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0" name="PlaceHolder 6"/>
          <p:cNvSpPr>
            <a:spLocks noGrp="1"/>
          </p:cNvSpPr>
          <p:nvPr>
            <p:ph type="sldNum" idx="33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51642A83-09F0-4632-AA49-407DE918EFDF}" type="slidenum"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/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8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Rounded Rectangle 1"/>
          <p:cNvSpPr/>
          <p:nvPr/>
        </p:nvSpPr>
        <p:spPr>
          <a:xfrm>
            <a:off x="502920" y="438840"/>
            <a:ext cx="10835280" cy="548604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600">
            <a:solidFill>
              <a:srgbClr val="d1d5db"/>
            </a:solidFill>
            <a:round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62" name="TextBox 2"/>
          <p:cNvSpPr/>
          <p:nvPr/>
        </p:nvSpPr>
        <p:spPr>
          <a:xfrm>
            <a:off x="713160" y="758880"/>
            <a:ext cx="1828440" cy="27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800" strike="noStrike" u="none">
                <a:solidFill>
                  <a:srgbClr val="5b21b6"/>
                </a:solidFill>
                <a:effectLst/>
                <a:uFillTx/>
                <a:latin typeface="Aptos"/>
              </a:rPr>
              <a:t>AI-901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3" name="TextBox 3"/>
          <p:cNvSpPr/>
          <p:nvPr/>
        </p:nvSpPr>
        <p:spPr>
          <a:xfrm>
            <a:off x="713160" y="1353240"/>
            <a:ext cx="6766200" cy="1036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r>
              <a:rPr b="1" lang="en-US" sz="3400" strike="noStrike" u="none">
                <a:solidFill>
                  <a:srgbClr val="1f2937"/>
                </a:solidFill>
                <a:effectLst/>
                <a:uFillTx/>
                <a:latin typeface="Aptos"/>
              </a:rPr>
              <a:t>Texto e Speech</a:t>
            </a:r>
            <a:endParaRPr b="0" lang="en-US" sz="3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1" lang="en-US" sz="3400" strike="noStrike" u="none">
                <a:solidFill>
                  <a:srgbClr val="1f2937"/>
                </a:solidFill>
                <a:effectLst/>
                <a:uFillTx/>
                <a:latin typeface="Aptos"/>
              </a:rPr>
              <a:t>no Microsoft Foundry</a:t>
            </a:r>
            <a:endParaRPr b="0" lang="en-US" sz="3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4" name="TextBox 4"/>
          <p:cNvSpPr/>
          <p:nvPr/>
        </p:nvSpPr>
        <p:spPr>
          <a:xfrm>
            <a:off x="731520" y="2971800"/>
            <a:ext cx="6766200" cy="244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600" strike="noStrike" u="none">
                <a:solidFill>
                  <a:srgbClr val="666e7d"/>
                </a:solidFill>
                <a:effectLst/>
                <a:uFillTx/>
                <a:latin typeface="Aptos"/>
              </a:rPr>
              <a:t>EP 3 • Entender texto, reconhecer fala e gerar voz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5" name="Rounded Rectangle 5"/>
          <p:cNvSpPr/>
          <p:nvPr/>
        </p:nvSpPr>
        <p:spPr>
          <a:xfrm>
            <a:off x="731520" y="4316040"/>
            <a:ext cx="2834280" cy="71280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600">
            <a:solidFill>
              <a:srgbClr val="d1d5db"/>
            </a:solidFill>
            <a:round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66" name="TextBox 6"/>
          <p:cNvSpPr/>
          <p:nvPr/>
        </p:nvSpPr>
        <p:spPr>
          <a:xfrm>
            <a:off x="731520" y="4534920"/>
            <a:ext cx="2834280" cy="27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 algn="ctr" defTabSz="457200">
              <a:lnSpc>
                <a:spcPct val="100000"/>
              </a:lnSpc>
            </a:pPr>
            <a:r>
              <a:rPr b="1" lang="en-US" sz="1800" strike="noStrike" u="none">
                <a:solidFill>
                  <a:srgbClr val="059669"/>
                </a:solidFill>
                <a:effectLst/>
                <a:uFillTx/>
                <a:latin typeface="Aptos"/>
              </a:rPr>
              <a:t>TEXTO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7" name="Rounded Rectangle 7"/>
          <p:cNvSpPr/>
          <p:nvPr/>
        </p:nvSpPr>
        <p:spPr>
          <a:xfrm>
            <a:off x="3977640" y="4316040"/>
            <a:ext cx="2834280" cy="71280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600">
            <a:solidFill>
              <a:srgbClr val="d1d5db"/>
            </a:solidFill>
            <a:round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68" name="TextBox 8"/>
          <p:cNvSpPr/>
          <p:nvPr/>
        </p:nvSpPr>
        <p:spPr>
          <a:xfrm>
            <a:off x="3977640" y="4534920"/>
            <a:ext cx="2834280" cy="27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 algn="ctr" defTabSz="457200">
              <a:lnSpc>
                <a:spcPct val="100000"/>
              </a:lnSpc>
            </a:pPr>
            <a:r>
              <a:rPr b="1" lang="en-US" sz="1800" strike="noStrike" u="none">
                <a:solidFill>
                  <a:srgbClr val="0284c7"/>
                </a:solidFill>
                <a:effectLst/>
                <a:uFillTx/>
                <a:latin typeface="Aptos"/>
              </a:rPr>
              <a:t>SPEECH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9" name="Rounded Rectangle 9"/>
          <p:cNvSpPr/>
          <p:nvPr/>
        </p:nvSpPr>
        <p:spPr>
          <a:xfrm>
            <a:off x="7223760" y="4316040"/>
            <a:ext cx="2834280" cy="71280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600">
            <a:solidFill>
              <a:srgbClr val="d1d5db"/>
            </a:solidFill>
            <a:round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70" name="TextBox 10"/>
          <p:cNvSpPr/>
          <p:nvPr/>
        </p:nvSpPr>
        <p:spPr>
          <a:xfrm>
            <a:off x="7223760" y="4534920"/>
            <a:ext cx="2834280" cy="27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 algn="ctr" defTabSz="457200">
              <a:lnSpc>
                <a:spcPct val="100000"/>
              </a:lnSpc>
            </a:pPr>
            <a:r>
              <a:rPr b="1" lang="en-US" sz="1800" strike="noStrike" u="none">
                <a:solidFill>
                  <a:srgbClr val="5b21b6"/>
                </a:solidFill>
                <a:effectLst/>
                <a:uFillTx/>
                <a:latin typeface="Aptos"/>
              </a:rPr>
              <a:t>MULTIMODAL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1" name="TextBox 11"/>
          <p:cNvSpPr/>
          <p:nvPr/>
        </p:nvSpPr>
        <p:spPr>
          <a:xfrm>
            <a:off x="9253800" y="5548320"/>
            <a:ext cx="1188360" cy="168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 algn="r" defTabSz="457200">
              <a:lnSpc>
                <a:spcPct val="100000"/>
              </a:lnSpc>
            </a:pPr>
            <a:r>
              <a:rPr b="1" lang="en-US" sz="1100" strike="noStrike" u="none">
                <a:solidFill>
                  <a:srgbClr val="666e7d"/>
                </a:solidFill>
                <a:effectLst/>
                <a:uFillTx/>
                <a:latin typeface="Aptos"/>
              </a:rPr>
              <a:t>Tiago Jr.</a:t>
            </a:r>
            <a:endParaRPr b="0" lang="en-US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8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Rectangle 1"/>
          <p:cNvSpPr/>
          <p:nvPr/>
        </p:nvSpPr>
        <p:spPr>
          <a:xfrm>
            <a:off x="0" y="0"/>
            <a:ext cx="88560" cy="6857640"/>
          </a:xfrm>
          <a:prstGeom prst="rect">
            <a:avLst/>
          </a:prstGeom>
          <a:solidFill>
            <a:srgbClr val="5b21b6"/>
          </a:solidFill>
          <a:ln w="9360">
            <a:noFill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73" name="TextBox 2"/>
          <p:cNvSpPr/>
          <p:nvPr/>
        </p:nvSpPr>
        <p:spPr>
          <a:xfrm>
            <a:off x="502920" y="201240"/>
            <a:ext cx="3657240" cy="153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000" strike="noStrike" u="none">
                <a:solidFill>
                  <a:srgbClr val="5b21b6"/>
                </a:solidFill>
                <a:effectLst/>
                <a:uFillTx/>
                <a:latin typeface="Aptos"/>
              </a:rPr>
              <a:t>VISÃO GERAL</a:t>
            </a:r>
            <a:endParaRPr b="0" lang="en-US" sz="1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4" name="TextBox 3"/>
          <p:cNvSpPr/>
          <p:nvPr/>
        </p:nvSpPr>
        <p:spPr>
          <a:xfrm>
            <a:off x="10287000" y="182880"/>
            <a:ext cx="1096920" cy="13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r" defTabSz="457200">
              <a:lnSpc>
                <a:spcPct val="100000"/>
              </a:lnSpc>
            </a:pPr>
            <a:r>
              <a:rPr b="1" lang="en-US" sz="900" strike="noStrike" u="none">
                <a:solidFill>
                  <a:srgbClr val="666e7d"/>
                </a:solidFill>
                <a:effectLst/>
                <a:uFillTx/>
                <a:latin typeface="Aptos"/>
              </a:rPr>
              <a:t>AI-901 • EP 3</a:t>
            </a:r>
            <a:endParaRPr b="0" lang="en-US" sz="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5" name="TextBox 4"/>
          <p:cNvSpPr/>
          <p:nvPr/>
        </p:nvSpPr>
        <p:spPr>
          <a:xfrm>
            <a:off x="502920" y="567000"/>
            <a:ext cx="10698120" cy="427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2800" strike="noStrike" u="none">
                <a:solidFill>
                  <a:srgbClr val="1f2937"/>
                </a:solidFill>
                <a:effectLst/>
                <a:uFillTx/>
                <a:latin typeface="Aptos"/>
              </a:rPr>
              <a:t>Hoje vamos trabalhar com texto e fala</a:t>
            </a:r>
            <a:endParaRPr b="0" lang="en-US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6" name="Rounded Rectangle 5"/>
          <p:cNvSpPr/>
          <p:nvPr/>
        </p:nvSpPr>
        <p:spPr>
          <a:xfrm>
            <a:off x="658440" y="1783080"/>
            <a:ext cx="5074560" cy="135288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600">
            <a:solidFill>
              <a:srgbClr val="d1d5db"/>
            </a:solidFill>
            <a:round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77" name="TextBox 6"/>
          <p:cNvSpPr/>
          <p:nvPr/>
        </p:nvSpPr>
        <p:spPr>
          <a:xfrm>
            <a:off x="887040" y="1947600"/>
            <a:ext cx="319680" cy="198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300" strike="noStrike" u="none">
                <a:solidFill>
                  <a:srgbClr val="5b21b6"/>
                </a:solidFill>
                <a:effectLst/>
                <a:uFillTx/>
                <a:latin typeface="Aptos"/>
              </a:rPr>
              <a:t>01</a:t>
            </a:r>
            <a:endParaRPr b="0" lang="en-US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8" name="TextBox 7"/>
          <p:cNvSpPr/>
          <p:nvPr/>
        </p:nvSpPr>
        <p:spPr>
          <a:xfrm>
            <a:off x="1344240" y="1938600"/>
            <a:ext cx="4160160" cy="27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800" strike="noStrike" u="none">
                <a:solidFill>
                  <a:srgbClr val="1f2937"/>
                </a:solidFill>
                <a:effectLst/>
                <a:uFillTx/>
                <a:latin typeface="Aptos"/>
              </a:rPr>
              <a:t>Análise de texto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9" name="TextBox 8"/>
          <p:cNvSpPr/>
          <p:nvPr/>
        </p:nvSpPr>
        <p:spPr>
          <a:xfrm>
            <a:off x="1344240" y="2350080"/>
            <a:ext cx="4160160" cy="198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300" strike="noStrike" u="none">
                <a:solidFill>
                  <a:srgbClr val="666e7d"/>
                </a:solidFill>
                <a:effectLst/>
                <a:uFillTx/>
                <a:latin typeface="Aptos"/>
              </a:rPr>
              <a:t>Palavras-chave, entidades, sentimento e resumo</a:t>
            </a:r>
            <a:endParaRPr b="0" lang="en-US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0" name="Rounded Rectangle 9"/>
          <p:cNvSpPr/>
          <p:nvPr/>
        </p:nvSpPr>
        <p:spPr>
          <a:xfrm>
            <a:off x="6282000" y="1783080"/>
            <a:ext cx="5074560" cy="135288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600">
            <a:solidFill>
              <a:srgbClr val="d1d5db"/>
            </a:solidFill>
            <a:round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81" name="TextBox 10"/>
          <p:cNvSpPr/>
          <p:nvPr/>
        </p:nvSpPr>
        <p:spPr>
          <a:xfrm>
            <a:off x="6510600" y="1947600"/>
            <a:ext cx="319680" cy="198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300" strike="noStrike" u="none">
                <a:solidFill>
                  <a:srgbClr val="0284c7"/>
                </a:solidFill>
                <a:effectLst/>
                <a:uFillTx/>
                <a:latin typeface="Aptos"/>
              </a:rPr>
              <a:t>02</a:t>
            </a:r>
            <a:endParaRPr b="0" lang="en-US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2" name="TextBox 11"/>
          <p:cNvSpPr/>
          <p:nvPr/>
        </p:nvSpPr>
        <p:spPr>
          <a:xfrm>
            <a:off x="6967800" y="1938600"/>
            <a:ext cx="4160160" cy="27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800" strike="noStrike" u="none">
                <a:solidFill>
                  <a:srgbClr val="1f2937"/>
                </a:solidFill>
                <a:effectLst/>
                <a:uFillTx/>
                <a:latin typeface="Aptos"/>
              </a:rPr>
              <a:t>Speech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3" name="TextBox 12"/>
          <p:cNvSpPr/>
          <p:nvPr/>
        </p:nvSpPr>
        <p:spPr>
          <a:xfrm>
            <a:off x="6967800" y="2350080"/>
            <a:ext cx="4160160" cy="198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300" strike="noStrike" u="none">
                <a:solidFill>
                  <a:srgbClr val="666e7d"/>
                </a:solidFill>
                <a:effectLst/>
                <a:uFillTx/>
                <a:latin typeface="Aptos"/>
              </a:rPr>
              <a:t>Reconhecer fala e sintetizar voz</a:t>
            </a:r>
            <a:endParaRPr b="0" lang="en-US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4" name="Rounded Rectangle 13"/>
          <p:cNvSpPr/>
          <p:nvPr/>
        </p:nvSpPr>
        <p:spPr>
          <a:xfrm>
            <a:off x="658440" y="3566160"/>
            <a:ext cx="5074560" cy="135288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600">
            <a:solidFill>
              <a:srgbClr val="d1d5db"/>
            </a:solidFill>
            <a:round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85" name="TextBox 14"/>
          <p:cNvSpPr/>
          <p:nvPr/>
        </p:nvSpPr>
        <p:spPr>
          <a:xfrm>
            <a:off x="887040" y="3730680"/>
            <a:ext cx="319680" cy="198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300" strike="noStrike" u="none">
                <a:solidFill>
                  <a:srgbClr val="059669"/>
                </a:solidFill>
                <a:effectLst/>
                <a:uFillTx/>
                <a:latin typeface="Aptos"/>
              </a:rPr>
              <a:t>03</a:t>
            </a:r>
            <a:endParaRPr b="0" lang="en-US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6" name="TextBox 15"/>
          <p:cNvSpPr/>
          <p:nvPr/>
        </p:nvSpPr>
        <p:spPr>
          <a:xfrm>
            <a:off x="1344240" y="3721680"/>
            <a:ext cx="4160160" cy="27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800" strike="noStrike" u="none">
                <a:solidFill>
                  <a:srgbClr val="1f2937"/>
                </a:solidFill>
                <a:effectLst/>
                <a:uFillTx/>
                <a:latin typeface="Aptos"/>
              </a:rPr>
              <a:t>Multimodal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7" name="TextBox 16"/>
          <p:cNvSpPr/>
          <p:nvPr/>
        </p:nvSpPr>
        <p:spPr>
          <a:xfrm>
            <a:off x="1344240" y="4133160"/>
            <a:ext cx="4160160" cy="198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300" strike="noStrike" u="none">
                <a:solidFill>
                  <a:srgbClr val="666e7d"/>
                </a:solidFill>
                <a:effectLst/>
                <a:uFillTx/>
                <a:latin typeface="Aptos"/>
              </a:rPr>
              <a:t>Responder a prompts falados</a:t>
            </a:r>
            <a:endParaRPr b="0" lang="en-US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8" name="Rounded Rectangle 17"/>
          <p:cNvSpPr/>
          <p:nvPr/>
        </p:nvSpPr>
        <p:spPr>
          <a:xfrm>
            <a:off x="6282000" y="3566160"/>
            <a:ext cx="5074560" cy="135288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600">
            <a:solidFill>
              <a:srgbClr val="d1d5db"/>
            </a:solidFill>
            <a:round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89" name="TextBox 18"/>
          <p:cNvSpPr/>
          <p:nvPr/>
        </p:nvSpPr>
        <p:spPr>
          <a:xfrm>
            <a:off x="6510600" y="3730680"/>
            <a:ext cx="319680" cy="198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300" strike="noStrike" u="none">
                <a:solidFill>
                  <a:srgbClr val="ea580c"/>
                </a:solidFill>
                <a:effectLst/>
                <a:uFillTx/>
                <a:latin typeface="Aptos"/>
              </a:rPr>
              <a:t>04</a:t>
            </a:r>
            <a:endParaRPr b="0" lang="en-US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0" name="TextBox 19"/>
          <p:cNvSpPr/>
          <p:nvPr/>
        </p:nvSpPr>
        <p:spPr>
          <a:xfrm>
            <a:off x="6967800" y="3721680"/>
            <a:ext cx="4160160" cy="27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800" strike="noStrike" u="none">
                <a:solidFill>
                  <a:srgbClr val="1f2937"/>
                </a:solidFill>
                <a:effectLst/>
                <a:uFillTx/>
                <a:latin typeface="Aptos"/>
              </a:rPr>
              <a:t>Foundry Tools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1" name="TextBox 20"/>
          <p:cNvSpPr/>
          <p:nvPr/>
        </p:nvSpPr>
        <p:spPr>
          <a:xfrm>
            <a:off x="6967800" y="4133160"/>
            <a:ext cx="4160160" cy="198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300" strike="noStrike" u="none">
                <a:solidFill>
                  <a:srgbClr val="666e7d"/>
                </a:solidFill>
                <a:effectLst/>
                <a:uFillTx/>
                <a:latin typeface="Aptos"/>
              </a:rPr>
              <a:t>Montar aplicações leves com Azure Speech</a:t>
            </a:r>
            <a:endParaRPr b="0" lang="en-US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8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Rectangle 1"/>
          <p:cNvSpPr/>
          <p:nvPr/>
        </p:nvSpPr>
        <p:spPr>
          <a:xfrm>
            <a:off x="0" y="0"/>
            <a:ext cx="88560" cy="6857640"/>
          </a:xfrm>
          <a:prstGeom prst="rect">
            <a:avLst/>
          </a:prstGeom>
          <a:solidFill>
            <a:srgbClr val="5b21b6"/>
          </a:solidFill>
          <a:ln w="9360">
            <a:noFill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93" name="TextBox 2"/>
          <p:cNvSpPr/>
          <p:nvPr/>
        </p:nvSpPr>
        <p:spPr>
          <a:xfrm>
            <a:off x="502920" y="201240"/>
            <a:ext cx="3657240" cy="153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000" strike="noStrike" u="none">
                <a:solidFill>
                  <a:srgbClr val="5b21b6"/>
                </a:solidFill>
                <a:effectLst/>
                <a:uFillTx/>
                <a:latin typeface="Aptos"/>
              </a:rPr>
              <a:t>MAPA</a:t>
            </a:r>
            <a:endParaRPr b="0" lang="en-US" sz="1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4" name="TextBox 3"/>
          <p:cNvSpPr/>
          <p:nvPr/>
        </p:nvSpPr>
        <p:spPr>
          <a:xfrm>
            <a:off x="10287000" y="182880"/>
            <a:ext cx="1096920" cy="13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r" defTabSz="457200">
              <a:lnSpc>
                <a:spcPct val="100000"/>
              </a:lnSpc>
            </a:pPr>
            <a:r>
              <a:rPr b="1" lang="en-US" sz="900" strike="noStrike" u="none">
                <a:solidFill>
                  <a:srgbClr val="666e7d"/>
                </a:solidFill>
                <a:effectLst/>
                <a:uFillTx/>
                <a:latin typeface="Aptos"/>
              </a:rPr>
              <a:t>AI-901 • EP </a:t>
            </a:r>
            <a:endParaRPr b="0" lang="en-US" sz="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5" name="TextBox 4"/>
          <p:cNvSpPr/>
          <p:nvPr/>
        </p:nvSpPr>
        <p:spPr>
          <a:xfrm>
            <a:off x="502920" y="567000"/>
            <a:ext cx="10698120" cy="427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2800" strike="noStrike" u="none">
                <a:solidFill>
                  <a:srgbClr val="1f2937"/>
                </a:solidFill>
                <a:effectLst/>
                <a:uFillTx/>
                <a:latin typeface="Aptos"/>
              </a:rPr>
              <a:t>O que a AI-901 espera que você reconheça aqui?</a:t>
            </a:r>
            <a:endParaRPr b="0" lang="en-US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6" name="TextBox 5"/>
          <p:cNvSpPr/>
          <p:nvPr/>
        </p:nvSpPr>
        <p:spPr>
          <a:xfrm>
            <a:off x="521280" y="1207080"/>
            <a:ext cx="10332360" cy="198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300" strike="noStrike" u="none">
                <a:solidFill>
                  <a:srgbClr val="666e7d"/>
                </a:solidFill>
                <a:effectLst/>
                <a:uFillTx/>
                <a:latin typeface="Aptos"/>
              </a:rPr>
              <a:t>Este episódio cobre tanto conceitos quanto implementação leve no Foundry.</a:t>
            </a:r>
            <a:endParaRPr b="0" lang="en-US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7" name="Rounded Rectangle 6"/>
          <p:cNvSpPr/>
          <p:nvPr/>
        </p:nvSpPr>
        <p:spPr>
          <a:xfrm>
            <a:off x="658440" y="1828800"/>
            <a:ext cx="3291480" cy="187416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600">
            <a:solidFill>
              <a:srgbClr val="d1d5db"/>
            </a:solidFill>
            <a:round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98" name="TextBox 7"/>
          <p:cNvSpPr/>
          <p:nvPr/>
        </p:nvSpPr>
        <p:spPr>
          <a:xfrm>
            <a:off x="914400" y="1984320"/>
            <a:ext cx="2779560" cy="27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800" strike="noStrike" u="none">
                <a:solidFill>
                  <a:srgbClr val="1f2937"/>
                </a:solidFill>
                <a:effectLst/>
                <a:uFillTx/>
                <a:latin typeface="Aptos"/>
              </a:rPr>
              <a:t>Texto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9" name="TextBox 8"/>
          <p:cNvSpPr/>
          <p:nvPr/>
        </p:nvSpPr>
        <p:spPr>
          <a:xfrm>
            <a:off x="914400" y="2395800"/>
            <a:ext cx="2779560" cy="793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r>
              <a:rPr b="0" lang="en-US" sz="1300" strike="noStrike" u="none">
                <a:solidFill>
                  <a:srgbClr val="666e7d"/>
                </a:solidFill>
                <a:effectLst/>
                <a:uFillTx/>
                <a:latin typeface="Aptos"/>
              </a:rPr>
              <a:t>Palavras-chave</a:t>
            </a:r>
            <a:endParaRPr b="0" lang="en-US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r>
              <a:rPr b="0" lang="en-US" sz="1300" strike="noStrike" u="none">
                <a:solidFill>
                  <a:srgbClr val="666e7d"/>
                </a:solidFill>
                <a:effectLst/>
                <a:uFillTx/>
                <a:latin typeface="Aptos"/>
              </a:rPr>
              <a:t>Entidades</a:t>
            </a:r>
            <a:endParaRPr b="0" lang="en-US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r>
              <a:rPr b="0" lang="en-US" sz="1300" strike="noStrike" u="none">
                <a:solidFill>
                  <a:srgbClr val="666e7d"/>
                </a:solidFill>
                <a:effectLst/>
                <a:uFillTx/>
                <a:latin typeface="Aptos"/>
              </a:rPr>
              <a:t>Sentimento</a:t>
            </a:r>
            <a:endParaRPr b="0" lang="en-US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300" strike="noStrike" u="none">
                <a:solidFill>
                  <a:srgbClr val="666e7d"/>
                </a:solidFill>
                <a:effectLst/>
                <a:uFillTx/>
                <a:latin typeface="Aptos"/>
              </a:rPr>
              <a:t>Resumo</a:t>
            </a:r>
            <a:endParaRPr b="0" lang="en-US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0" name="Rounded Rectangle 9"/>
          <p:cNvSpPr/>
          <p:nvPr/>
        </p:nvSpPr>
        <p:spPr>
          <a:xfrm>
            <a:off x="4443840" y="1828800"/>
            <a:ext cx="3291480" cy="187416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600">
            <a:solidFill>
              <a:srgbClr val="d1d5db"/>
            </a:solidFill>
            <a:round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01" name="TextBox 10"/>
          <p:cNvSpPr/>
          <p:nvPr/>
        </p:nvSpPr>
        <p:spPr>
          <a:xfrm>
            <a:off x="4700160" y="1984320"/>
            <a:ext cx="2779560" cy="27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800" strike="noStrike" u="none">
                <a:solidFill>
                  <a:srgbClr val="1f2937"/>
                </a:solidFill>
                <a:effectLst/>
                <a:uFillTx/>
                <a:latin typeface="Aptos"/>
              </a:rPr>
              <a:t>Fala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2" name="TextBox 11"/>
          <p:cNvSpPr/>
          <p:nvPr/>
        </p:nvSpPr>
        <p:spPr>
          <a:xfrm>
            <a:off x="4700160" y="2395800"/>
            <a:ext cx="2779560" cy="397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r>
              <a:rPr b="0" lang="en-US" sz="1300" strike="noStrike" u="none">
                <a:solidFill>
                  <a:srgbClr val="666e7d"/>
                </a:solidFill>
                <a:effectLst/>
                <a:uFillTx/>
                <a:latin typeface="Aptos"/>
              </a:rPr>
              <a:t>Reconhecimento de fala</a:t>
            </a:r>
            <a:endParaRPr b="0" lang="en-US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300" strike="noStrike" u="none">
                <a:solidFill>
                  <a:srgbClr val="666e7d"/>
                </a:solidFill>
                <a:effectLst/>
                <a:uFillTx/>
                <a:latin typeface="Aptos"/>
              </a:rPr>
              <a:t>Síntese de fala</a:t>
            </a:r>
            <a:endParaRPr b="0" lang="en-US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3" name="Rounded Rectangle 12"/>
          <p:cNvSpPr/>
          <p:nvPr/>
        </p:nvSpPr>
        <p:spPr>
          <a:xfrm>
            <a:off x="8229600" y="1828800"/>
            <a:ext cx="2880000" cy="187416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600">
            <a:solidFill>
              <a:srgbClr val="d1d5db"/>
            </a:solidFill>
            <a:round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04" name="TextBox 13"/>
          <p:cNvSpPr/>
          <p:nvPr/>
        </p:nvSpPr>
        <p:spPr>
          <a:xfrm>
            <a:off x="8485560" y="1984320"/>
            <a:ext cx="2368080" cy="27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800" strike="noStrike" u="none">
                <a:solidFill>
                  <a:srgbClr val="1f2937"/>
                </a:solidFill>
                <a:effectLst/>
                <a:uFillTx/>
                <a:latin typeface="Aptos"/>
              </a:rPr>
              <a:t>Implementação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5" name="TextBox 14"/>
          <p:cNvSpPr/>
          <p:nvPr/>
        </p:nvSpPr>
        <p:spPr>
          <a:xfrm>
            <a:off x="8485560" y="2395800"/>
            <a:ext cx="2368080" cy="549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r>
              <a:rPr b="0" lang="en-US" sz="1200" strike="noStrike" u="none">
                <a:solidFill>
                  <a:srgbClr val="666e7d"/>
                </a:solidFill>
                <a:effectLst/>
                <a:uFillTx/>
                <a:latin typeface="Aptos"/>
              </a:rPr>
              <a:t>App leve de texto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r>
              <a:rPr b="0" lang="en-US" sz="1200" strike="noStrike" u="none">
                <a:solidFill>
                  <a:srgbClr val="666e7d"/>
                </a:solidFill>
                <a:effectLst/>
                <a:uFillTx/>
                <a:latin typeface="Aptos"/>
              </a:rPr>
              <a:t>Prompt falado multimodal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200" strike="noStrike" u="none">
                <a:solidFill>
                  <a:srgbClr val="666e7d"/>
                </a:solidFill>
                <a:effectLst/>
                <a:uFillTx/>
                <a:latin typeface="Aptos"/>
              </a:rPr>
              <a:t>Azure Speech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6" name="Rounded Rectangle 15"/>
          <p:cNvSpPr/>
          <p:nvPr/>
        </p:nvSpPr>
        <p:spPr>
          <a:xfrm>
            <a:off x="1783080" y="4251960"/>
            <a:ext cx="8137800" cy="594000"/>
          </a:xfrm>
          <a:prstGeom prst="roundRect">
            <a:avLst>
              <a:gd name="adj" fmla="val 16667"/>
            </a:avLst>
          </a:prstGeom>
          <a:solidFill>
            <a:srgbClr val="ede9fe"/>
          </a:solidFill>
          <a:ln w="9360">
            <a:solidFill>
              <a:srgbClr val="ede9fe"/>
            </a:solidFill>
            <a:round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07" name="TextBox 16"/>
          <p:cNvSpPr/>
          <p:nvPr/>
        </p:nvSpPr>
        <p:spPr>
          <a:xfrm>
            <a:off x="1783080" y="4426560"/>
            <a:ext cx="8137800" cy="244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 algn="ctr" defTabSz="457200">
              <a:lnSpc>
                <a:spcPct val="100000"/>
              </a:lnSpc>
            </a:pPr>
            <a:r>
              <a:rPr b="1" lang="en-US" sz="1600" strike="noStrike" u="none">
                <a:solidFill>
                  <a:srgbClr val="5b21b6"/>
                </a:solidFill>
                <a:effectLst/>
                <a:uFillTx/>
                <a:latin typeface="Aptos"/>
              </a:rPr>
              <a:t>Na prova, pense primeiro na capacidade pedida — depois na ferramenta.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8" name="TextBox 17"/>
          <p:cNvSpPr/>
          <p:nvPr/>
        </p:nvSpPr>
        <p:spPr>
          <a:xfrm>
            <a:off x="685800" y="5989320"/>
            <a:ext cx="10058040" cy="122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800" strike="noStrike" u="none">
                <a:solidFill>
                  <a:srgbClr val="666e7d"/>
                </a:solidFill>
                <a:effectLst/>
                <a:uFillTx/>
                <a:latin typeface="Aptos"/>
              </a:rPr>
              <a:t>Fonte: Microsoft Learn — AI-901 Study Guide, habilidades medidas desde 15/04/2026.</a:t>
            </a:r>
            <a:endParaRPr b="0" lang="en-US" sz="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8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Rectangle 1"/>
          <p:cNvSpPr/>
          <p:nvPr/>
        </p:nvSpPr>
        <p:spPr>
          <a:xfrm>
            <a:off x="0" y="0"/>
            <a:ext cx="88560" cy="6857640"/>
          </a:xfrm>
          <a:prstGeom prst="rect">
            <a:avLst/>
          </a:prstGeom>
          <a:solidFill>
            <a:srgbClr val="5b21b6"/>
          </a:solidFill>
          <a:ln w="9360">
            <a:noFill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10" name="TextBox 2"/>
          <p:cNvSpPr/>
          <p:nvPr/>
        </p:nvSpPr>
        <p:spPr>
          <a:xfrm>
            <a:off x="502920" y="201240"/>
            <a:ext cx="3657240" cy="153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000" strike="noStrike" u="none">
                <a:solidFill>
                  <a:srgbClr val="5b21b6"/>
                </a:solidFill>
                <a:effectLst/>
                <a:uFillTx/>
                <a:latin typeface="Aptos"/>
              </a:rPr>
              <a:t>TEXTO</a:t>
            </a:r>
            <a:endParaRPr b="0" lang="en-US" sz="1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1" name="TextBox 3"/>
          <p:cNvSpPr/>
          <p:nvPr/>
        </p:nvSpPr>
        <p:spPr>
          <a:xfrm>
            <a:off x="10287000" y="182880"/>
            <a:ext cx="1096920" cy="13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r" defTabSz="457200">
              <a:lnSpc>
                <a:spcPct val="100000"/>
              </a:lnSpc>
            </a:pPr>
            <a:r>
              <a:rPr b="1" lang="en-US" sz="900" strike="noStrike" u="none">
                <a:solidFill>
                  <a:srgbClr val="666e7d"/>
                </a:solidFill>
                <a:effectLst/>
                <a:uFillTx/>
                <a:latin typeface="Aptos"/>
              </a:rPr>
              <a:t>AI-901 • EP 3</a:t>
            </a:r>
            <a:endParaRPr b="0" lang="en-US" sz="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2" name="TextBox 4"/>
          <p:cNvSpPr/>
          <p:nvPr/>
        </p:nvSpPr>
        <p:spPr>
          <a:xfrm>
            <a:off x="502920" y="567000"/>
            <a:ext cx="10698120" cy="427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2800" strike="noStrike" u="none">
                <a:solidFill>
                  <a:srgbClr val="1f2937"/>
                </a:solidFill>
                <a:effectLst/>
                <a:uFillTx/>
                <a:latin typeface="Aptos"/>
              </a:rPr>
              <a:t>Análise de texto = transformar texto em informação útil</a:t>
            </a:r>
            <a:endParaRPr b="0" lang="en-US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3" name="Rounded Rectangle 5"/>
          <p:cNvSpPr/>
          <p:nvPr/>
        </p:nvSpPr>
        <p:spPr>
          <a:xfrm>
            <a:off x="914400" y="2057400"/>
            <a:ext cx="2468520" cy="1142640"/>
          </a:xfrm>
          <a:prstGeom prst="roundRect">
            <a:avLst>
              <a:gd name="adj" fmla="val 16667"/>
            </a:avLst>
          </a:prstGeom>
          <a:solidFill>
            <a:srgbClr val="f3f4f6"/>
          </a:solidFill>
          <a:ln w="9360">
            <a:solidFill>
              <a:srgbClr val="f3f4f6"/>
            </a:solidFill>
            <a:round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14" name="TextBox 6"/>
          <p:cNvSpPr/>
          <p:nvPr/>
        </p:nvSpPr>
        <p:spPr>
          <a:xfrm>
            <a:off x="914400" y="2475720"/>
            <a:ext cx="2468520" cy="305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 algn="ctr" defTabSz="457200">
              <a:lnSpc>
                <a:spcPct val="100000"/>
              </a:lnSpc>
            </a:pPr>
            <a:r>
              <a:rPr b="1" lang="en-US" sz="2000" strike="noStrike" u="none">
                <a:solidFill>
                  <a:srgbClr val="1f2937"/>
                </a:solidFill>
                <a:effectLst/>
                <a:uFillTx/>
                <a:latin typeface="Aptos"/>
              </a:rPr>
              <a:t>Texto bruto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5" name="Rounded Rectangle 7"/>
          <p:cNvSpPr/>
          <p:nvPr/>
        </p:nvSpPr>
        <p:spPr>
          <a:xfrm>
            <a:off x="4160520" y="2057400"/>
            <a:ext cx="2468520" cy="1142640"/>
          </a:xfrm>
          <a:prstGeom prst="roundRect">
            <a:avLst>
              <a:gd name="adj" fmla="val 16667"/>
            </a:avLst>
          </a:prstGeom>
          <a:solidFill>
            <a:srgbClr val="ede9fe"/>
          </a:solidFill>
          <a:ln w="9360">
            <a:solidFill>
              <a:srgbClr val="ede9fe"/>
            </a:solidFill>
            <a:round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16" name="TextBox 8"/>
          <p:cNvSpPr/>
          <p:nvPr/>
        </p:nvSpPr>
        <p:spPr>
          <a:xfrm>
            <a:off x="4160520" y="2475720"/>
            <a:ext cx="2468520" cy="305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 algn="ctr" defTabSz="457200">
              <a:lnSpc>
                <a:spcPct val="100000"/>
              </a:lnSpc>
            </a:pPr>
            <a:r>
              <a:rPr b="1" lang="en-US" sz="2000" strike="noStrike" u="none">
                <a:solidFill>
                  <a:srgbClr val="1f2937"/>
                </a:solidFill>
                <a:effectLst/>
                <a:uFillTx/>
                <a:latin typeface="Aptos"/>
              </a:rPr>
              <a:t>Análise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7" name="Rounded Rectangle 9"/>
          <p:cNvSpPr/>
          <p:nvPr/>
        </p:nvSpPr>
        <p:spPr>
          <a:xfrm>
            <a:off x="7498080" y="2057400"/>
            <a:ext cx="2468520" cy="1142640"/>
          </a:xfrm>
          <a:prstGeom prst="roundRect">
            <a:avLst>
              <a:gd name="adj" fmla="val 16667"/>
            </a:avLst>
          </a:prstGeom>
          <a:solidFill>
            <a:srgbClr val="ecfdf5"/>
          </a:solidFill>
          <a:ln w="9360">
            <a:solidFill>
              <a:srgbClr val="ecfdf5"/>
            </a:solidFill>
            <a:round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18" name="TextBox 10"/>
          <p:cNvSpPr/>
          <p:nvPr/>
        </p:nvSpPr>
        <p:spPr>
          <a:xfrm>
            <a:off x="7498080" y="2475720"/>
            <a:ext cx="2468520" cy="305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 algn="ctr" defTabSz="457200">
              <a:lnSpc>
                <a:spcPct val="100000"/>
              </a:lnSpc>
            </a:pPr>
            <a:r>
              <a:rPr b="1" lang="en-US" sz="2000" strike="noStrike" u="none">
                <a:solidFill>
                  <a:srgbClr val="1f2937"/>
                </a:solidFill>
                <a:effectLst/>
                <a:uFillTx/>
                <a:latin typeface="Aptos"/>
              </a:rPr>
              <a:t>Informação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119" name="Connector 11"/>
          <p:cNvCxnSpPr/>
          <p:nvPr/>
        </p:nvCxnSpPr>
        <p:spPr>
          <a:xfrm>
            <a:off x="3429000" y="2633400"/>
            <a:ext cx="640440" cy="360"/>
          </a:xfrm>
          <a:prstGeom prst="straightConnector1">
            <a:avLst/>
          </a:prstGeom>
          <a:ln w="23040">
            <a:solidFill>
              <a:srgbClr val="5b21b6"/>
            </a:solidFill>
            <a:round/>
          </a:ln>
        </p:spPr>
      </p:cxnSp>
      <p:cxnSp>
        <p:nvCxnSpPr>
          <p:cNvPr id="120" name="Connector 12"/>
          <p:cNvCxnSpPr/>
          <p:nvPr/>
        </p:nvCxnSpPr>
        <p:spPr>
          <a:xfrm>
            <a:off x="6720840" y="2633400"/>
            <a:ext cx="686160" cy="360"/>
          </a:xfrm>
          <a:prstGeom prst="straightConnector1">
            <a:avLst/>
          </a:prstGeom>
          <a:ln w="23040">
            <a:solidFill>
              <a:srgbClr val="5b21b6"/>
            </a:solidFill>
            <a:round/>
          </a:ln>
        </p:spPr>
      </p:cxnSp>
      <p:sp>
        <p:nvSpPr>
          <p:cNvPr id="121" name="Rounded Rectangle 13"/>
          <p:cNvSpPr/>
          <p:nvPr/>
        </p:nvSpPr>
        <p:spPr>
          <a:xfrm>
            <a:off x="1417320" y="4069080"/>
            <a:ext cx="8960760" cy="731160"/>
          </a:xfrm>
          <a:prstGeom prst="roundRect">
            <a:avLst>
              <a:gd name="adj" fmla="val 16667"/>
            </a:avLst>
          </a:prstGeom>
          <a:solidFill>
            <a:srgbClr val="ede9fe"/>
          </a:solidFill>
          <a:ln w="9360">
            <a:solidFill>
              <a:srgbClr val="ede9fe"/>
            </a:solidFill>
            <a:round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22" name="TextBox 14"/>
          <p:cNvSpPr/>
          <p:nvPr/>
        </p:nvSpPr>
        <p:spPr>
          <a:xfrm>
            <a:off x="1417320" y="4296960"/>
            <a:ext cx="8960760" cy="27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 algn="ctr" defTabSz="457200">
              <a:lnSpc>
                <a:spcPct val="100000"/>
              </a:lnSpc>
            </a:pPr>
            <a:r>
              <a:rPr b="1" lang="en-US" sz="1800" strike="noStrike" u="none">
                <a:solidFill>
                  <a:srgbClr val="5b21b6"/>
                </a:solidFill>
                <a:effectLst/>
                <a:uFillTx/>
                <a:latin typeface="Aptos"/>
              </a:rPr>
              <a:t>A pergunta-chave é: “o que eu quero descobrir neste texto?”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8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Rectangle 1"/>
          <p:cNvSpPr/>
          <p:nvPr/>
        </p:nvSpPr>
        <p:spPr>
          <a:xfrm>
            <a:off x="0" y="0"/>
            <a:ext cx="88560" cy="6857640"/>
          </a:xfrm>
          <a:prstGeom prst="rect">
            <a:avLst/>
          </a:prstGeom>
          <a:solidFill>
            <a:srgbClr val="5b21b6"/>
          </a:solidFill>
          <a:ln w="9360">
            <a:noFill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24" name="TextBox 2"/>
          <p:cNvSpPr/>
          <p:nvPr/>
        </p:nvSpPr>
        <p:spPr>
          <a:xfrm>
            <a:off x="502920" y="201240"/>
            <a:ext cx="3657240" cy="153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000" strike="noStrike" u="none">
                <a:solidFill>
                  <a:srgbClr val="5b21b6"/>
                </a:solidFill>
                <a:effectLst/>
                <a:uFillTx/>
                <a:latin typeface="Aptos"/>
              </a:rPr>
              <a:t>TEXTO</a:t>
            </a:r>
            <a:endParaRPr b="0" lang="en-US" sz="1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5" name="TextBox 3"/>
          <p:cNvSpPr/>
          <p:nvPr/>
        </p:nvSpPr>
        <p:spPr>
          <a:xfrm>
            <a:off x="10287000" y="182880"/>
            <a:ext cx="1096920" cy="13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r" defTabSz="457200">
              <a:lnSpc>
                <a:spcPct val="100000"/>
              </a:lnSpc>
            </a:pPr>
            <a:r>
              <a:rPr b="1" lang="en-US" sz="900" strike="noStrike" u="none">
                <a:solidFill>
                  <a:srgbClr val="666e7d"/>
                </a:solidFill>
                <a:effectLst/>
                <a:uFillTx/>
                <a:latin typeface="Aptos"/>
              </a:rPr>
              <a:t>AI-901 • EP 3</a:t>
            </a:r>
            <a:endParaRPr b="0" lang="en-US" sz="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6" name="TextBox 4"/>
          <p:cNvSpPr/>
          <p:nvPr/>
        </p:nvSpPr>
        <p:spPr>
          <a:xfrm>
            <a:off x="502920" y="567000"/>
            <a:ext cx="10698120" cy="427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2800" strike="noStrike" u="none">
                <a:solidFill>
                  <a:srgbClr val="1f2937"/>
                </a:solidFill>
                <a:effectLst/>
                <a:uFillTx/>
                <a:latin typeface="Aptos"/>
              </a:rPr>
              <a:t>Quatro técnicas que você precisa reconhecer</a:t>
            </a:r>
            <a:endParaRPr b="0" lang="en-US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7" name="Rounded Rectangle 5"/>
          <p:cNvSpPr/>
          <p:nvPr/>
        </p:nvSpPr>
        <p:spPr>
          <a:xfrm>
            <a:off x="658440" y="1737360"/>
            <a:ext cx="5074560" cy="141696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600">
            <a:solidFill>
              <a:srgbClr val="d1d5db"/>
            </a:solidFill>
            <a:round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28" name="TextBox 6"/>
          <p:cNvSpPr/>
          <p:nvPr/>
        </p:nvSpPr>
        <p:spPr>
          <a:xfrm>
            <a:off x="914400" y="1892880"/>
            <a:ext cx="4562640" cy="27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800" strike="noStrike" u="none">
                <a:solidFill>
                  <a:srgbClr val="1f2937"/>
                </a:solidFill>
                <a:effectLst/>
                <a:uFillTx/>
                <a:latin typeface="Aptos"/>
              </a:rPr>
              <a:t>Palavras-chave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9" name="TextBox 7"/>
          <p:cNvSpPr/>
          <p:nvPr/>
        </p:nvSpPr>
        <p:spPr>
          <a:xfrm>
            <a:off x="914400" y="2304360"/>
            <a:ext cx="4562640" cy="198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300" strike="noStrike" u="none">
                <a:solidFill>
                  <a:srgbClr val="666e7d"/>
                </a:solidFill>
                <a:effectLst/>
                <a:uFillTx/>
                <a:latin typeface="Aptos"/>
              </a:rPr>
              <a:t>Quais termos representam o assunto?</a:t>
            </a:r>
            <a:endParaRPr b="0" lang="en-US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0" name="Rounded Rectangle 8"/>
          <p:cNvSpPr/>
          <p:nvPr/>
        </p:nvSpPr>
        <p:spPr>
          <a:xfrm>
            <a:off x="6282000" y="1737360"/>
            <a:ext cx="5074560" cy="141696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600">
            <a:solidFill>
              <a:srgbClr val="d1d5db"/>
            </a:solidFill>
            <a:round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31" name="TextBox 9"/>
          <p:cNvSpPr/>
          <p:nvPr/>
        </p:nvSpPr>
        <p:spPr>
          <a:xfrm>
            <a:off x="6537960" y="1892880"/>
            <a:ext cx="4562640" cy="27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800" strike="noStrike" u="none">
                <a:solidFill>
                  <a:srgbClr val="1f2937"/>
                </a:solidFill>
                <a:effectLst/>
                <a:uFillTx/>
                <a:latin typeface="Aptos"/>
              </a:rPr>
              <a:t>Entidades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2" name="TextBox 10"/>
          <p:cNvSpPr/>
          <p:nvPr/>
        </p:nvSpPr>
        <p:spPr>
          <a:xfrm>
            <a:off x="6537960" y="2304360"/>
            <a:ext cx="4562640" cy="198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300" strike="noStrike" u="none">
                <a:solidFill>
                  <a:srgbClr val="666e7d"/>
                </a:solidFill>
                <a:effectLst/>
                <a:uFillTx/>
                <a:latin typeface="Aptos"/>
              </a:rPr>
              <a:t>Quais pessoas, locais, empresas ou itens aparecem?</a:t>
            </a:r>
            <a:endParaRPr b="0" lang="en-US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3" name="Rounded Rectangle 11"/>
          <p:cNvSpPr/>
          <p:nvPr/>
        </p:nvSpPr>
        <p:spPr>
          <a:xfrm>
            <a:off x="658440" y="3611880"/>
            <a:ext cx="5074560" cy="141696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600">
            <a:solidFill>
              <a:srgbClr val="d1d5db"/>
            </a:solidFill>
            <a:round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34" name="TextBox 12"/>
          <p:cNvSpPr/>
          <p:nvPr/>
        </p:nvSpPr>
        <p:spPr>
          <a:xfrm>
            <a:off x="914400" y="3767400"/>
            <a:ext cx="4562640" cy="27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800" strike="noStrike" u="none">
                <a:solidFill>
                  <a:srgbClr val="1f2937"/>
                </a:solidFill>
                <a:effectLst/>
                <a:uFillTx/>
                <a:latin typeface="Aptos"/>
              </a:rPr>
              <a:t>Sentimento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5" name="TextBox 13"/>
          <p:cNvSpPr/>
          <p:nvPr/>
        </p:nvSpPr>
        <p:spPr>
          <a:xfrm>
            <a:off x="914400" y="4178880"/>
            <a:ext cx="4562640" cy="198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300" strike="noStrike" u="none">
                <a:solidFill>
                  <a:srgbClr val="666e7d"/>
                </a:solidFill>
                <a:effectLst/>
                <a:uFillTx/>
                <a:latin typeface="Aptos"/>
              </a:rPr>
              <a:t>O texto expressa algo positivo, negativo ou neutro?</a:t>
            </a:r>
            <a:endParaRPr b="0" lang="en-US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6" name="Rounded Rectangle 14"/>
          <p:cNvSpPr/>
          <p:nvPr/>
        </p:nvSpPr>
        <p:spPr>
          <a:xfrm>
            <a:off x="6282000" y="3611880"/>
            <a:ext cx="5074560" cy="141696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600">
            <a:solidFill>
              <a:srgbClr val="d1d5db"/>
            </a:solidFill>
            <a:round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37" name="TextBox 15"/>
          <p:cNvSpPr/>
          <p:nvPr/>
        </p:nvSpPr>
        <p:spPr>
          <a:xfrm>
            <a:off x="6537960" y="3767400"/>
            <a:ext cx="4562640" cy="27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800" strike="noStrike" u="none">
                <a:solidFill>
                  <a:srgbClr val="1f2937"/>
                </a:solidFill>
                <a:effectLst/>
                <a:uFillTx/>
                <a:latin typeface="Aptos"/>
              </a:rPr>
              <a:t>Resumo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8" name="TextBox 16"/>
          <p:cNvSpPr/>
          <p:nvPr/>
        </p:nvSpPr>
        <p:spPr>
          <a:xfrm>
            <a:off x="6537960" y="4178880"/>
            <a:ext cx="4562640" cy="198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300" strike="noStrike" u="none">
                <a:solidFill>
                  <a:srgbClr val="666e7d"/>
                </a:solidFill>
                <a:effectLst/>
                <a:uFillTx/>
                <a:latin typeface="Aptos"/>
              </a:rPr>
              <a:t>Como reduzir o conteúdo mantendo a ideia principal?</a:t>
            </a:r>
            <a:endParaRPr b="0" lang="en-US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8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Rectangle 1"/>
          <p:cNvSpPr/>
          <p:nvPr/>
        </p:nvSpPr>
        <p:spPr>
          <a:xfrm>
            <a:off x="0" y="0"/>
            <a:ext cx="88560" cy="6857640"/>
          </a:xfrm>
          <a:prstGeom prst="rect">
            <a:avLst/>
          </a:prstGeom>
          <a:solidFill>
            <a:srgbClr val="5b21b6"/>
          </a:solidFill>
          <a:ln w="9360">
            <a:noFill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40" name="TextBox 2"/>
          <p:cNvSpPr/>
          <p:nvPr/>
        </p:nvSpPr>
        <p:spPr>
          <a:xfrm>
            <a:off x="502920" y="201240"/>
            <a:ext cx="3657240" cy="153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000" strike="noStrike" u="none">
                <a:solidFill>
                  <a:srgbClr val="5b21b6"/>
                </a:solidFill>
                <a:effectLst/>
                <a:uFillTx/>
                <a:latin typeface="Aptos"/>
              </a:rPr>
              <a:t>TEXTO</a:t>
            </a:r>
            <a:endParaRPr b="0" lang="en-US" sz="1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1" name="TextBox 3"/>
          <p:cNvSpPr/>
          <p:nvPr/>
        </p:nvSpPr>
        <p:spPr>
          <a:xfrm>
            <a:off x="10287000" y="182880"/>
            <a:ext cx="1096920" cy="13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r" defTabSz="457200">
              <a:lnSpc>
                <a:spcPct val="100000"/>
              </a:lnSpc>
            </a:pPr>
            <a:r>
              <a:rPr b="1" lang="en-US" sz="900" strike="noStrike" u="none">
                <a:solidFill>
                  <a:srgbClr val="666e7d"/>
                </a:solidFill>
                <a:effectLst/>
                <a:uFillTx/>
                <a:latin typeface="Aptos"/>
              </a:rPr>
              <a:t>AI-901 • EP 3</a:t>
            </a:r>
            <a:endParaRPr b="0" lang="en-US" sz="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2" name="TextBox 4"/>
          <p:cNvSpPr/>
          <p:nvPr/>
        </p:nvSpPr>
        <p:spPr>
          <a:xfrm>
            <a:off x="502920" y="567000"/>
            <a:ext cx="10698120" cy="427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2800" strike="noStrike" u="none">
                <a:solidFill>
                  <a:srgbClr val="1f2937"/>
                </a:solidFill>
                <a:effectLst/>
                <a:uFillTx/>
                <a:latin typeface="Aptos"/>
              </a:rPr>
              <a:t>Extração de palavras-chave</a:t>
            </a:r>
            <a:endParaRPr b="0" lang="en-US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3" name="TextBox 5"/>
          <p:cNvSpPr/>
          <p:nvPr/>
        </p:nvSpPr>
        <p:spPr>
          <a:xfrm>
            <a:off x="685800" y="1572840"/>
            <a:ext cx="4663080" cy="549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800" strike="noStrike" u="none">
                <a:solidFill>
                  <a:srgbClr val="1f2937"/>
                </a:solidFill>
                <a:effectLst/>
                <a:uFillTx/>
                <a:latin typeface="Aptos"/>
              </a:rPr>
              <a:t>Objetivo: identificar os termos mais importantes.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4" name="Rounded Rectangle 6"/>
          <p:cNvSpPr/>
          <p:nvPr/>
        </p:nvSpPr>
        <p:spPr>
          <a:xfrm>
            <a:off x="685800" y="2240280"/>
            <a:ext cx="4663080" cy="187416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600">
            <a:solidFill>
              <a:srgbClr val="d1d5db"/>
            </a:solidFill>
            <a:round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45" name="TextBox 7"/>
          <p:cNvSpPr/>
          <p:nvPr/>
        </p:nvSpPr>
        <p:spPr>
          <a:xfrm>
            <a:off x="960120" y="2514600"/>
            <a:ext cx="4160160" cy="518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700" strike="noStrike" u="none">
                <a:solidFill>
                  <a:srgbClr val="1f2937"/>
                </a:solidFill>
                <a:effectLst/>
                <a:uFillTx/>
                <a:latin typeface="Aptos"/>
              </a:rPr>
              <a:t>“O aplicativo ficou lento depois da última atualização e o login demora muito.”</a:t>
            </a:r>
            <a:endParaRPr b="0" lang="en-US" sz="17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146" name="Connector 8"/>
          <p:cNvCxnSpPr/>
          <p:nvPr/>
        </p:nvCxnSpPr>
        <p:spPr>
          <a:xfrm>
            <a:off x="5532120" y="3154680"/>
            <a:ext cx="914760" cy="360"/>
          </a:xfrm>
          <a:prstGeom prst="straightConnector1">
            <a:avLst/>
          </a:prstGeom>
          <a:ln w="23040">
            <a:solidFill>
              <a:srgbClr val="5b21b6"/>
            </a:solidFill>
            <a:round/>
          </a:ln>
        </p:spPr>
      </p:cxnSp>
      <p:sp>
        <p:nvSpPr>
          <p:cNvPr id="147" name="Rounded Rectangle 9"/>
          <p:cNvSpPr/>
          <p:nvPr/>
        </p:nvSpPr>
        <p:spPr>
          <a:xfrm>
            <a:off x="6629400" y="2331720"/>
            <a:ext cx="1828440" cy="566640"/>
          </a:xfrm>
          <a:prstGeom prst="roundRect">
            <a:avLst>
              <a:gd name="adj" fmla="val 16667"/>
            </a:avLst>
          </a:prstGeom>
          <a:solidFill>
            <a:srgbClr val="ede9fe"/>
          </a:solidFill>
          <a:ln w="9360">
            <a:solidFill>
              <a:srgbClr val="ede9fe"/>
            </a:solidFill>
            <a:round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48" name="TextBox 10"/>
          <p:cNvSpPr/>
          <p:nvPr/>
        </p:nvSpPr>
        <p:spPr>
          <a:xfrm>
            <a:off x="6629400" y="2507760"/>
            <a:ext cx="1828440" cy="214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 algn="ctr" defTabSz="457200">
              <a:lnSpc>
                <a:spcPct val="100000"/>
              </a:lnSpc>
            </a:pPr>
            <a:r>
              <a:rPr b="1" lang="en-US" sz="1400" strike="noStrike" u="none">
                <a:solidFill>
                  <a:srgbClr val="5b21b6"/>
                </a:solidFill>
                <a:effectLst/>
                <a:uFillTx/>
                <a:latin typeface="Aptos"/>
              </a:rPr>
              <a:t>aplicativo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9" name="Rounded Rectangle 11"/>
          <p:cNvSpPr/>
          <p:nvPr/>
        </p:nvSpPr>
        <p:spPr>
          <a:xfrm>
            <a:off x="8778240" y="2331720"/>
            <a:ext cx="1828440" cy="566640"/>
          </a:xfrm>
          <a:prstGeom prst="roundRect">
            <a:avLst>
              <a:gd name="adj" fmla="val 16667"/>
            </a:avLst>
          </a:prstGeom>
          <a:solidFill>
            <a:srgbClr val="ede9fe"/>
          </a:solidFill>
          <a:ln w="9360">
            <a:solidFill>
              <a:srgbClr val="ede9fe"/>
            </a:solidFill>
            <a:round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50" name="TextBox 12"/>
          <p:cNvSpPr/>
          <p:nvPr/>
        </p:nvSpPr>
        <p:spPr>
          <a:xfrm>
            <a:off x="8778240" y="2507760"/>
            <a:ext cx="1828440" cy="214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 algn="ctr" defTabSz="457200">
              <a:lnSpc>
                <a:spcPct val="100000"/>
              </a:lnSpc>
            </a:pPr>
            <a:r>
              <a:rPr b="1" lang="en-US" sz="1400" strike="noStrike" u="none">
                <a:solidFill>
                  <a:srgbClr val="5b21b6"/>
                </a:solidFill>
                <a:effectLst/>
                <a:uFillTx/>
                <a:latin typeface="Aptos"/>
              </a:rPr>
              <a:t>atualização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1" name="Rounded Rectangle 13"/>
          <p:cNvSpPr/>
          <p:nvPr/>
        </p:nvSpPr>
        <p:spPr>
          <a:xfrm>
            <a:off x="6629400" y="3246120"/>
            <a:ext cx="1828440" cy="566640"/>
          </a:xfrm>
          <a:prstGeom prst="roundRect">
            <a:avLst>
              <a:gd name="adj" fmla="val 16667"/>
            </a:avLst>
          </a:prstGeom>
          <a:solidFill>
            <a:srgbClr val="ede9fe"/>
          </a:solidFill>
          <a:ln w="9360">
            <a:solidFill>
              <a:srgbClr val="ede9fe"/>
            </a:solidFill>
            <a:round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52" name="TextBox 14"/>
          <p:cNvSpPr/>
          <p:nvPr/>
        </p:nvSpPr>
        <p:spPr>
          <a:xfrm>
            <a:off x="6629400" y="3422160"/>
            <a:ext cx="1828440" cy="214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 algn="ctr" defTabSz="457200">
              <a:lnSpc>
                <a:spcPct val="100000"/>
              </a:lnSpc>
            </a:pPr>
            <a:r>
              <a:rPr b="1" lang="en-US" sz="1400" strike="noStrike" u="none">
                <a:solidFill>
                  <a:srgbClr val="5b21b6"/>
                </a:solidFill>
                <a:effectLst/>
                <a:uFillTx/>
                <a:latin typeface="Aptos"/>
              </a:rPr>
              <a:t>login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3" name="Rounded Rectangle 15"/>
          <p:cNvSpPr/>
          <p:nvPr/>
        </p:nvSpPr>
        <p:spPr>
          <a:xfrm>
            <a:off x="8778240" y="3246120"/>
            <a:ext cx="1828440" cy="566640"/>
          </a:xfrm>
          <a:prstGeom prst="roundRect">
            <a:avLst>
              <a:gd name="adj" fmla="val 16667"/>
            </a:avLst>
          </a:prstGeom>
          <a:solidFill>
            <a:srgbClr val="ede9fe"/>
          </a:solidFill>
          <a:ln w="9360">
            <a:solidFill>
              <a:srgbClr val="ede9fe"/>
            </a:solidFill>
            <a:round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54" name="TextBox 16"/>
          <p:cNvSpPr/>
          <p:nvPr/>
        </p:nvSpPr>
        <p:spPr>
          <a:xfrm>
            <a:off x="8778240" y="3422160"/>
            <a:ext cx="1828440" cy="214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 algn="ctr" defTabSz="457200">
              <a:lnSpc>
                <a:spcPct val="100000"/>
              </a:lnSpc>
            </a:pPr>
            <a:r>
              <a:rPr b="1" lang="en-US" sz="1400" strike="noStrike" u="none">
                <a:solidFill>
                  <a:srgbClr val="5b21b6"/>
                </a:solidFill>
                <a:effectLst/>
                <a:uFillTx/>
                <a:latin typeface="Aptos"/>
              </a:rPr>
              <a:t>lentidão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5" name="TextBox 17"/>
          <p:cNvSpPr/>
          <p:nvPr/>
        </p:nvSpPr>
        <p:spPr>
          <a:xfrm>
            <a:off x="704160" y="4937760"/>
            <a:ext cx="9875160" cy="228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500" strike="noStrike" u="none">
                <a:solidFill>
                  <a:srgbClr val="5b21b6"/>
                </a:solidFill>
                <a:effectLst/>
                <a:uFillTx/>
                <a:latin typeface="Aptos"/>
              </a:rPr>
              <a:t>Gatilho de prova: “identificar os principais termos ou tópicos”.</a:t>
            </a:r>
            <a:endParaRPr b="0" lang="en-US" sz="1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8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Rectangle 1"/>
          <p:cNvSpPr/>
          <p:nvPr/>
        </p:nvSpPr>
        <p:spPr>
          <a:xfrm>
            <a:off x="0" y="0"/>
            <a:ext cx="88560" cy="6857640"/>
          </a:xfrm>
          <a:prstGeom prst="rect">
            <a:avLst/>
          </a:prstGeom>
          <a:solidFill>
            <a:srgbClr val="5b21b6"/>
          </a:solidFill>
          <a:ln w="9360">
            <a:noFill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57" name="TextBox 2"/>
          <p:cNvSpPr/>
          <p:nvPr/>
        </p:nvSpPr>
        <p:spPr>
          <a:xfrm>
            <a:off x="502920" y="201240"/>
            <a:ext cx="3657240" cy="153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000" strike="noStrike" u="none">
                <a:solidFill>
                  <a:srgbClr val="5b21b6"/>
                </a:solidFill>
                <a:effectLst/>
                <a:uFillTx/>
                <a:latin typeface="Aptos"/>
              </a:rPr>
              <a:t>TEXTO</a:t>
            </a:r>
            <a:endParaRPr b="0" lang="en-US" sz="1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8" name="TextBox 3"/>
          <p:cNvSpPr/>
          <p:nvPr/>
        </p:nvSpPr>
        <p:spPr>
          <a:xfrm>
            <a:off x="10287000" y="182880"/>
            <a:ext cx="1096920" cy="13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r" defTabSz="457200">
              <a:lnSpc>
                <a:spcPct val="100000"/>
              </a:lnSpc>
            </a:pPr>
            <a:r>
              <a:rPr b="1" lang="en-US" sz="900" strike="noStrike" u="none">
                <a:solidFill>
                  <a:srgbClr val="666e7d"/>
                </a:solidFill>
                <a:effectLst/>
                <a:uFillTx/>
                <a:latin typeface="Aptos"/>
              </a:rPr>
              <a:t>AI-901 • EP 3</a:t>
            </a:r>
            <a:endParaRPr b="0" lang="en-US" sz="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9" name="TextBox 4"/>
          <p:cNvSpPr/>
          <p:nvPr/>
        </p:nvSpPr>
        <p:spPr>
          <a:xfrm>
            <a:off x="502920" y="567000"/>
            <a:ext cx="10698120" cy="427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2800" strike="noStrike" u="none">
                <a:solidFill>
                  <a:srgbClr val="1f2937"/>
                </a:solidFill>
                <a:effectLst/>
                <a:uFillTx/>
                <a:latin typeface="Aptos"/>
              </a:rPr>
              <a:t>Detecção de entidades</a:t>
            </a:r>
            <a:endParaRPr b="0" lang="en-US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0" name="TextBox 5"/>
          <p:cNvSpPr/>
          <p:nvPr/>
        </p:nvSpPr>
        <p:spPr>
          <a:xfrm>
            <a:off x="685800" y="1572840"/>
            <a:ext cx="4845960" cy="549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800" strike="noStrike" u="none">
                <a:solidFill>
                  <a:srgbClr val="1f2937"/>
                </a:solidFill>
                <a:effectLst/>
                <a:uFillTx/>
                <a:latin typeface="Aptos"/>
              </a:rPr>
              <a:t>Objetivo: reconhecer elementos nomeados dentro do texto.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1" name="Rounded Rectangle 6"/>
          <p:cNvSpPr/>
          <p:nvPr/>
        </p:nvSpPr>
        <p:spPr>
          <a:xfrm>
            <a:off x="685800" y="2240280"/>
            <a:ext cx="5577480" cy="182844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600">
            <a:solidFill>
              <a:srgbClr val="d1d5db"/>
            </a:solidFill>
            <a:round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62" name="TextBox 7"/>
          <p:cNvSpPr/>
          <p:nvPr/>
        </p:nvSpPr>
        <p:spPr>
          <a:xfrm>
            <a:off x="914400" y="2541960"/>
            <a:ext cx="5120280" cy="608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700" strike="noStrike" u="none">
                <a:solidFill>
                  <a:srgbClr val="1f2937"/>
                </a:solidFill>
                <a:effectLst/>
                <a:uFillTx/>
                <a:latin typeface="Aptos"/>
              </a:rPr>
              <a:t>“A </a:t>
            </a:r>
            <a:r>
              <a:rPr b="1" lang="en-US" sz="1700" strike="noStrike" u="none">
                <a:solidFill>
                  <a:srgbClr val="5b21b6"/>
                </a:solidFill>
                <a:effectLst/>
                <a:uFillTx/>
                <a:latin typeface="Aptos"/>
              </a:rPr>
              <a:t>Contoso</a:t>
            </a:r>
            <a:r>
              <a:rPr b="0" lang="en-US" sz="1700" strike="noStrike" u="none">
                <a:solidFill>
                  <a:srgbClr val="1f2937"/>
                </a:solidFill>
                <a:effectLst/>
                <a:uFillTx/>
                <a:latin typeface="Aptos"/>
              </a:rPr>
              <a:t> abriu um escritório em </a:t>
            </a:r>
            <a:r>
              <a:rPr b="1" lang="en-US" sz="1700" strike="noStrike" u="none">
                <a:solidFill>
                  <a:srgbClr val="0284c7"/>
                </a:solidFill>
                <a:effectLst/>
                <a:uFillTx/>
                <a:latin typeface="Aptos"/>
              </a:rPr>
              <a:t>São Paulo</a:t>
            </a:r>
            <a:r>
              <a:rPr b="0" lang="en-US" sz="1700" strike="noStrike" u="none">
                <a:solidFill>
                  <a:srgbClr val="1f2937"/>
                </a:solidFill>
                <a:effectLst/>
                <a:uFillTx/>
                <a:latin typeface="Aptos"/>
              </a:rPr>
              <a:t> em </a:t>
            </a:r>
            <a:r>
              <a:rPr b="1" lang="en-US" sz="1700" strike="noStrike" u="none">
                <a:solidFill>
                  <a:srgbClr val="059669"/>
                </a:solidFill>
                <a:effectLst/>
                <a:uFillTx/>
                <a:latin typeface="Aptos"/>
              </a:rPr>
              <a:t>2026</a:t>
            </a:r>
            <a:r>
              <a:rPr b="0" lang="en-US" sz="1700" strike="noStrike" u="none">
                <a:solidFill>
                  <a:srgbClr val="1f2937"/>
                </a:solidFill>
                <a:effectLst/>
                <a:uFillTx/>
                <a:latin typeface="Aptos"/>
              </a:rPr>
              <a:t>.”</a:t>
            </a:r>
            <a:endParaRPr b="0" lang="en-US" sz="17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163" name="Connector 8"/>
          <p:cNvCxnSpPr/>
          <p:nvPr/>
        </p:nvCxnSpPr>
        <p:spPr>
          <a:xfrm>
            <a:off x="6400800" y="3108960"/>
            <a:ext cx="594720" cy="360"/>
          </a:xfrm>
          <a:prstGeom prst="straightConnector1">
            <a:avLst/>
          </a:prstGeom>
          <a:ln w="23040">
            <a:solidFill>
              <a:srgbClr val="5b21b6"/>
            </a:solidFill>
            <a:round/>
          </a:ln>
        </p:spPr>
      </p:cxnSp>
      <p:sp>
        <p:nvSpPr>
          <p:cNvPr id="164" name="Rounded Rectangle 9"/>
          <p:cNvSpPr/>
          <p:nvPr/>
        </p:nvSpPr>
        <p:spPr>
          <a:xfrm>
            <a:off x="7178040" y="2057400"/>
            <a:ext cx="3748680" cy="223992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600">
            <a:solidFill>
              <a:srgbClr val="d1d5db"/>
            </a:solidFill>
            <a:round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65" name="TextBox 10"/>
          <p:cNvSpPr/>
          <p:nvPr/>
        </p:nvSpPr>
        <p:spPr>
          <a:xfrm>
            <a:off x="7434000" y="2212920"/>
            <a:ext cx="3236760" cy="27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800" strike="noStrike" u="none">
                <a:solidFill>
                  <a:srgbClr val="1f2937"/>
                </a:solidFill>
                <a:effectLst/>
                <a:uFillTx/>
                <a:latin typeface="Aptos"/>
              </a:rPr>
              <a:t>Entidades encontradas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6" name="TextBox 11"/>
          <p:cNvSpPr/>
          <p:nvPr/>
        </p:nvSpPr>
        <p:spPr>
          <a:xfrm>
            <a:off x="7434000" y="2624400"/>
            <a:ext cx="3236760" cy="640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r>
              <a:rPr b="0" lang="en-US" sz="1400" strike="noStrike" u="none">
                <a:solidFill>
                  <a:srgbClr val="666e7d"/>
                </a:solidFill>
                <a:effectLst/>
                <a:uFillTx/>
                <a:latin typeface="Aptos"/>
              </a:rPr>
              <a:t>Organização: Contoso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r>
              <a:rPr b="0" lang="en-US" sz="1400" strike="noStrike" u="none">
                <a:solidFill>
                  <a:srgbClr val="666e7d"/>
                </a:solidFill>
                <a:effectLst/>
                <a:uFillTx/>
                <a:latin typeface="Aptos"/>
              </a:rPr>
              <a:t>Local: São Paulo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400" strike="noStrike" u="none">
                <a:solidFill>
                  <a:srgbClr val="666e7d"/>
                </a:solidFill>
                <a:effectLst/>
                <a:uFillTx/>
                <a:latin typeface="Aptos"/>
              </a:rPr>
              <a:t>Data: 2026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7" name="TextBox 12"/>
          <p:cNvSpPr/>
          <p:nvPr/>
        </p:nvSpPr>
        <p:spPr>
          <a:xfrm>
            <a:off x="704160" y="4892040"/>
            <a:ext cx="9875160" cy="228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500" strike="noStrike" u="none">
                <a:solidFill>
                  <a:srgbClr val="0284c7"/>
                </a:solidFill>
                <a:effectLst/>
                <a:uFillTx/>
                <a:latin typeface="Aptos"/>
              </a:rPr>
              <a:t>Gatilho: “identificar pessoas, locais, organizações, datas ou outros elementos nomeados”.</a:t>
            </a:r>
            <a:endParaRPr b="0" lang="en-US" sz="1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8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Rectangle 1"/>
          <p:cNvSpPr/>
          <p:nvPr/>
        </p:nvSpPr>
        <p:spPr>
          <a:xfrm>
            <a:off x="0" y="0"/>
            <a:ext cx="88560" cy="6857640"/>
          </a:xfrm>
          <a:prstGeom prst="rect">
            <a:avLst/>
          </a:prstGeom>
          <a:solidFill>
            <a:srgbClr val="5b21b6"/>
          </a:solidFill>
          <a:ln w="9360">
            <a:noFill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69" name="TextBox 2"/>
          <p:cNvSpPr/>
          <p:nvPr/>
        </p:nvSpPr>
        <p:spPr>
          <a:xfrm>
            <a:off x="502920" y="201240"/>
            <a:ext cx="3657240" cy="153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000" strike="noStrike" u="none">
                <a:solidFill>
                  <a:srgbClr val="5b21b6"/>
                </a:solidFill>
                <a:effectLst/>
                <a:uFillTx/>
                <a:latin typeface="Aptos"/>
              </a:rPr>
              <a:t>TEXTO</a:t>
            </a:r>
            <a:endParaRPr b="0" lang="en-US" sz="1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0" name="TextBox 3"/>
          <p:cNvSpPr/>
          <p:nvPr/>
        </p:nvSpPr>
        <p:spPr>
          <a:xfrm>
            <a:off x="10287000" y="182880"/>
            <a:ext cx="1096920" cy="13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r" defTabSz="457200">
              <a:lnSpc>
                <a:spcPct val="100000"/>
              </a:lnSpc>
            </a:pPr>
            <a:r>
              <a:rPr b="1" lang="en-US" sz="900" strike="noStrike" u="none">
                <a:solidFill>
                  <a:srgbClr val="666e7d"/>
                </a:solidFill>
                <a:effectLst/>
                <a:uFillTx/>
                <a:latin typeface="Aptos"/>
              </a:rPr>
              <a:t>AI-901 • EP 3</a:t>
            </a:r>
            <a:endParaRPr b="0" lang="en-US" sz="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1" name="TextBox 4"/>
          <p:cNvSpPr/>
          <p:nvPr/>
        </p:nvSpPr>
        <p:spPr>
          <a:xfrm>
            <a:off x="502920" y="567000"/>
            <a:ext cx="10698120" cy="427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2800" strike="noStrike" u="none">
                <a:solidFill>
                  <a:srgbClr val="1f2937"/>
                </a:solidFill>
                <a:effectLst/>
                <a:uFillTx/>
                <a:latin typeface="Aptos"/>
              </a:rPr>
              <a:t>Análise de sentimento</a:t>
            </a:r>
            <a:endParaRPr b="0" lang="en-US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2" name="TextBox 5"/>
          <p:cNvSpPr/>
          <p:nvPr/>
        </p:nvSpPr>
        <p:spPr>
          <a:xfrm>
            <a:off x="685800" y="1572840"/>
            <a:ext cx="10058040" cy="27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800" strike="noStrike" u="none">
                <a:solidFill>
                  <a:srgbClr val="1f2937"/>
                </a:solidFill>
                <a:effectLst/>
                <a:uFillTx/>
                <a:latin typeface="Aptos"/>
              </a:rPr>
              <a:t>Objetivo: identificar a polaridade ou o tom de uma opinião.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3" name="Rounded Rectangle 6"/>
          <p:cNvSpPr/>
          <p:nvPr/>
        </p:nvSpPr>
        <p:spPr>
          <a:xfrm>
            <a:off x="685800" y="2240280"/>
            <a:ext cx="3245760" cy="196560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600">
            <a:solidFill>
              <a:srgbClr val="d1d5db"/>
            </a:solidFill>
            <a:round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74" name="TextBox 7"/>
          <p:cNvSpPr/>
          <p:nvPr/>
        </p:nvSpPr>
        <p:spPr>
          <a:xfrm>
            <a:off x="914400" y="2716560"/>
            <a:ext cx="2788560" cy="244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 algn="ctr" defTabSz="457200">
              <a:lnSpc>
                <a:spcPct val="100000"/>
              </a:lnSpc>
            </a:pPr>
            <a:r>
              <a:rPr b="0" lang="en-US" sz="1600" strike="noStrike" u="none">
                <a:solidFill>
                  <a:srgbClr val="1f2937"/>
                </a:solidFill>
                <a:effectLst/>
                <a:uFillTx/>
                <a:latin typeface="Aptos"/>
              </a:rPr>
              <a:t>“Excelente atendimento.”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5" name="Rounded Rectangle 8"/>
          <p:cNvSpPr/>
          <p:nvPr/>
        </p:nvSpPr>
        <p:spPr>
          <a:xfrm>
            <a:off x="1344240" y="3401640"/>
            <a:ext cx="1919880" cy="502560"/>
          </a:xfrm>
          <a:prstGeom prst="roundRect">
            <a:avLst>
              <a:gd name="adj" fmla="val 16667"/>
            </a:avLst>
          </a:prstGeom>
          <a:solidFill>
            <a:srgbClr val="ecfdf5"/>
          </a:solidFill>
          <a:ln w="9360">
            <a:solidFill>
              <a:srgbClr val="ecfdf5"/>
            </a:solidFill>
            <a:round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76" name="TextBox 9"/>
          <p:cNvSpPr/>
          <p:nvPr/>
        </p:nvSpPr>
        <p:spPr>
          <a:xfrm>
            <a:off x="1344240" y="3553200"/>
            <a:ext cx="1919880" cy="199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 algn="ctr" defTabSz="457200">
              <a:lnSpc>
                <a:spcPct val="100000"/>
              </a:lnSpc>
            </a:pPr>
            <a:r>
              <a:rPr b="1" lang="en-US" sz="1300" strike="noStrike" u="none">
                <a:solidFill>
                  <a:srgbClr val="059669"/>
                </a:solidFill>
                <a:effectLst/>
                <a:uFillTx/>
                <a:latin typeface="Aptos"/>
              </a:rPr>
              <a:t>POSITIVO</a:t>
            </a:r>
            <a:endParaRPr b="0" lang="en-US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7" name="Rounded Rectangle 10"/>
          <p:cNvSpPr/>
          <p:nvPr/>
        </p:nvSpPr>
        <p:spPr>
          <a:xfrm>
            <a:off x="4389120" y="2240280"/>
            <a:ext cx="3245760" cy="196560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600">
            <a:solidFill>
              <a:srgbClr val="d1d5db"/>
            </a:solidFill>
            <a:round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78" name="TextBox 11"/>
          <p:cNvSpPr/>
          <p:nvPr/>
        </p:nvSpPr>
        <p:spPr>
          <a:xfrm>
            <a:off x="4617720" y="2716560"/>
            <a:ext cx="2788560" cy="244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 algn="ctr" defTabSz="457200">
              <a:lnSpc>
                <a:spcPct val="100000"/>
              </a:lnSpc>
            </a:pPr>
            <a:r>
              <a:rPr b="0" lang="en-US" sz="1600" strike="noStrike" u="none">
                <a:solidFill>
                  <a:srgbClr val="1f2937"/>
                </a:solidFill>
                <a:effectLst/>
                <a:uFillTx/>
                <a:latin typeface="Aptos"/>
              </a:rPr>
              <a:t>“Funcionou, nada demais.”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9" name="Rounded Rectangle 12"/>
          <p:cNvSpPr/>
          <p:nvPr/>
        </p:nvSpPr>
        <p:spPr>
          <a:xfrm>
            <a:off x="5047560" y="3401640"/>
            <a:ext cx="1919880" cy="502560"/>
          </a:xfrm>
          <a:prstGeom prst="roundRect">
            <a:avLst>
              <a:gd name="adj" fmla="val 16667"/>
            </a:avLst>
          </a:prstGeom>
          <a:solidFill>
            <a:srgbClr val="f3f4f6"/>
          </a:solidFill>
          <a:ln w="9360">
            <a:solidFill>
              <a:srgbClr val="f3f4f6"/>
            </a:solidFill>
            <a:round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80" name="TextBox 13"/>
          <p:cNvSpPr/>
          <p:nvPr/>
        </p:nvSpPr>
        <p:spPr>
          <a:xfrm>
            <a:off x="5047560" y="3553200"/>
            <a:ext cx="1919880" cy="199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 algn="ctr" defTabSz="457200">
              <a:lnSpc>
                <a:spcPct val="100000"/>
              </a:lnSpc>
            </a:pPr>
            <a:r>
              <a:rPr b="1" lang="en-US" sz="1300" strike="noStrike" u="none">
                <a:solidFill>
                  <a:srgbClr val="666e7d"/>
                </a:solidFill>
                <a:effectLst/>
                <a:uFillTx/>
                <a:latin typeface="Aptos"/>
              </a:rPr>
              <a:t>NEUTRO</a:t>
            </a:r>
            <a:endParaRPr b="0" lang="en-US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1" name="Rounded Rectangle 14"/>
          <p:cNvSpPr/>
          <p:nvPr/>
        </p:nvSpPr>
        <p:spPr>
          <a:xfrm>
            <a:off x="8092440" y="2240280"/>
            <a:ext cx="3245760" cy="196560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600">
            <a:solidFill>
              <a:srgbClr val="d1d5db"/>
            </a:solidFill>
            <a:round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82" name="TextBox 15"/>
          <p:cNvSpPr/>
          <p:nvPr/>
        </p:nvSpPr>
        <p:spPr>
          <a:xfrm>
            <a:off x="8321040" y="2716560"/>
            <a:ext cx="2788560" cy="244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 algn="ctr" defTabSz="457200">
              <a:lnSpc>
                <a:spcPct val="100000"/>
              </a:lnSpc>
            </a:pPr>
            <a:r>
              <a:rPr b="0" lang="en-US" sz="1600" strike="noStrike" u="none">
                <a:solidFill>
                  <a:srgbClr val="1f2937"/>
                </a:solidFill>
                <a:effectLst/>
                <a:uFillTx/>
                <a:latin typeface="Aptos"/>
              </a:rPr>
              <a:t>“Péssima experiência.”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3" name="Rounded Rectangle 16"/>
          <p:cNvSpPr/>
          <p:nvPr/>
        </p:nvSpPr>
        <p:spPr>
          <a:xfrm>
            <a:off x="8750880" y="3401640"/>
            <a:ext cx="1919880" cy="502560"/>
          </a:xfrm>
          <a:prstGeom prst="roundRect">
            <a:avLst>
              <a:gd name="adj" fmla="val 16667"/>
            </a:avLst>
          </a:prstGeom>
          <a:solidFill>
            <a:srgbClr val="fef2f2"/>
          </a:solidFill>
          <a:ln w="9360">
            <a:solidFill>
              <a:srgbClr val="fef2f2"/>
            </a:solidFill>
            <a:round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84" name="TextBox 17"/>
          <p:cNvSpPr/>
          <p:nvPr/>
        </p:nvSpPr>
        <p:spPr>
          <a:xfrm>
            <a:off x="8750880" y="3553200"/>
            <a:ext cx="1919880" cy="199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 algn="ctr" defTabSz="457200">
              <a:lnSpc>
                <a:spcPct val="100000"/>
              </a:lnSpc>
            </a:pPr>
            <a:r>
              <a:rPr b="1" lang="en-US" sz="1300" strike="noStrike" u="none">
                <a:solidFill>
                  <a:srgbClr val="dc2626"/>
                </a:solidFill>
                <a:effectLst/>
                <a:uFillTx/>
                <a:latin typeface="Aptos"/>
              </a:rPr>
              <a:t>NEGATIVO</a:t>
            </a:r>
            <a:endParaRPr b="0" lang="en-US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5" name="TextBox 18"/>
          <p:cNvSpPr/>
          <p:nvPr/>
        </p:nvSpPr>
        <p:spPr>
          <a:xfrm>
            <a:off x="704160" y="4892040"/>
            <a:ext cx="9875160" cy="228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500" strike="noStrike" u="none">
                <a:solidFill>
                  <a:srgbClr val="059669"/>
                </a:solidFill>
                <a:effectLst/>
                <a:uFillTx/>
                <a:latin typeface="Aptos"/>
              </a:rPr>
              <a:t>Gatilho: “classificar opinião, satisfação ou tom do texto”.</a:t>
            </a:r>
            <a:endParaRPr b="0" lang="en-US" sz="1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8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Rectangle 1"/>
          <p:cNvSpPr/>
          <p:nvPr/>
        </p:nvSpPr>
        <p:spPr>
          <a:xfrm>
            <a:off x="0" y="0"/>
            <a:ext cx="88560" cy="6857640"/>
          </a:xfrm>
          <a:prstGeom prst="rect">
            <a:avLst/>
          </a:prstGeom>
          <a:solidFill>
            <a:srgbClr val="5b21b6"/>
          </a:solidFill>
          <a:ln w="9360">
            <a:noFill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87" name="TextBox 2"/>
          <p:cNvSpPr/>
          <p:nvPr/>
        </p:nvSpPr>
        <p:spPr>
          <a:xfrm>
            <a:off x="502920" y="201240"/>
            <a:ext cx="3657240" cy="153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000" strike="noStrike" u="none">
                <a:solidFill>
                  <a:srgbClr val="5b21b6"/>
                </a:solidFill>
                <a:effectLst/>
                <a:uFillTx/>
                <a:latin typeface="Aptos"/>
              </a:rPr>
              <a:t>TEXTO</a:t>
            </a:r>
            <a:endParaRPr b="0" lang="en-US" sz="1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8" name="TextBox 3"/>
          <p:cNvSpPr/>
          <p:nvPr/>
        </p:nvSpPr>
        <p:spPr>
          <a:xfrm>
            <a:off x="10287000" y="182880"/>
            <a:ext cx="1096920" cy="13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r" defTabSz="457200">
              <a:lnSpc>
                <a:spcPct val="100000"/>
              </a:lnSpc>
            </a:pPr>
            <a:r>
              <a:rPr b="1" lang="en-US" sz="900" strike="noStrike" u="none">
                <a:solidFill>
                  <a:srgbClr val="666e7d"/>
                </a:solidFill>
                <a:effectLst/>
                <a:uFillTx/>
                <a:latin typeface="Aptos"/>
              </a:rPr>
              <a:t>AI-901 • EP 3</a:t>
            </a:r>
            <a:endParaRPr b="0" lang="en-US" sz="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9" name="TextBox 4"/>
          <p:cNvSpPr/>
          <p:nvPr/>
        </p:nvSpPr>
        <p:spPr>
          <a:xfrm>
            <a:off x="502920" y="567000"/>
            <a:ext cx="10698120" cy="427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2800" strike="noStrike" u="none">
                <a:solidFill>
                  <a:srgbClr val="1f2937"/>
                </a:solidFill>
                <a:effectLst/>
                <a:uFillTx/>
                <a:latin typeface="Aptos"/>
              </a:rPr>
              <a:t>Resumo: reduzir sem perder a ideia principal</a:t>
            </a:r>
            <a:endParaRPr b="0" lang="en-US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0" name="Rounded Rectangle 5"/>
          <p:cNvSpPr/>
          <p:nvPr/>
        </p:nvSpPr>
        <p:spPr>
          <a:xfrm>
            <a:off x="685800" y="1755720"/>
            <a:ext cx="4754520" cy="251424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600">
            <a:solidFill>
              <a:srgbClr val="d1d5db"/>
            </a:solidFill>
            <a:round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91" name="TextBox 6"/>
          <p:cNvSpPr/>
          <p:nvPr/>
        </p:nvSpPr>
        <p:spPr>
          <a:xfrm>
            <a:off x="932760" y="1993320"/>
            <a:ext cx="4251600" cy="975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600" strike="noStrike" u="none">
                <a:solidFill>
                  <a:srgbClr val="1f2937"/>
                </a:solidFill>
                <a:effectLst/>
                <a:uFillTx/>
                <a:latin typeface="Aptos"/>
              </a:rPr>
              <a:t>Texto longo com vários detalhes, contexto, exemplos e informações secundárias que não precisam aparecer por completo na resposta final.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192" name="Connector 7"/>
          <p:cNvCxnSpPr/>
          <p:nvPr/>
        </p:nvCxnSpPr>
        <p:spPr>
          <a:xfrm>
            <a:off x="5577840" y="2971800"/>
            <a:ext cx="823320" cy="360"/>
          </a:xfrm>
          <a:prstGeom prst="straightConnector1">
            <a:avLst/>
          </a:prstGeom>
          <a:ln w="23040">
            <a:solidFill>
              <a:srgbClr val="5b21b6"/>
            </a:solidFill>
            <a:round/>
          </a:ln>
        </p:spPr>
      </p:cxnSp>
      <p:sp>
        <p:nvSpPr>
          <p:cNvPr id="193" name="Rounded Rectangle 8"/>
          <p:cNvSpPr/>
          <p:nvPr/>
        </p:nvSpPr>
        <p:spPr>
          <a:xfrm>
            <a:off x="6629400" y="2057400"/>
            <a:ext cx="4343040" cy="1919880"/>
          </a:xfrm>
          <a:prstGeom prst="roundRect">
            <a:avLst>
              <a:gd name="adj" fmla="val 16667"/>
            </a:avLst>
          </a:prstGeom>
          <a:solidFill>
            <a:srgbClr val="ede9fe"/>
          </a:solidFill>
          <a:ln w="9360">
            <a:solidFill>
              <a:srgbClr val="ede9fe"/>
            </a:solidFill>
            <a:round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94" name="TextBox 9"/>
          <p:cNvSpPr/>
          <p:nvPr/>
        </p:nvSpPr>
        <p:spPr>
          <a:xfrm>
            <a:off x="6903720" y="2742480"/>
            <a:ext cx="3794400" cy="549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 algn="ctr" defTabSz="457200">
              <a:lnSpc>
                <a:spcPct val="100000"/>
              </a:lnSpc>
            </a:pPr>
            <a:r>
              <a:rPr b="1" lang="en-US" sz="1800" strike="noStrike" u="none">
                <a:solidFill>
                  <a:srgbClr val="5b21b6"/>
                </a:solidFill>
                <a:effectLst/>
                <a:uFillTx/>
                <a:latin typeface="Aptos"/>
              </a:rPr>
              <a:t>Resumo: versão menor que preserva o ponto central.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5" name="TextBox 10"/>
          <p:cNvSpPr/>
          <p:nvPr/>
        </p:nvSpPr>
        <p:spPr>
          <a:xfrm>
            <a:off x="704160" y="4892040"/>
            <a:ext cx="9875160" cy="228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500" strike="noStrike" u="none">
                <a:solidFill>
                  <a:srgbClr val="ea580c"/>
                </a:solidFill>
                <a:effectLst/>
                <a:uFillTx/>
                <a:latin typeface="Aptos"/>
              </a:rPr>
              <a:t>Gatilho: “condensar”, “resumir” ou “reduzir mantendo as informações principais”.</a:t>
            </a:r>
            <a:endParaRPr b="0" lang="en-US" sz="1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8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Rectangle 1"/>
          <p:cNvSpPr/>
          <p:nvPr/>
        </p:nvSpPr>
        <p:spPr>
          <a:xfrm>
            <a:off x="0" y="0"/>
            <a:ext cx="88560" cy="6857640"/>
          </a:xfrm>
          <a:prstGeom prst="rect">
            <a:avLst/>
          </a:prstGeom>
          <a:solidFill>
            <a:srgbClr val="5b21b6"/>
          </a:solidFill>
          <a:ln w="9360">
            <a:noFill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97" name="TextBox 2"/>
          <p:cNvSpPr/>
          <p:nvPr/>
        </p:nvSpPr>
        <p:spPr>
          <a:xfrm>
            <a:off x="502920" y="201240"/>
            <a:ext cx="3657240" cy="153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000" strike="noStrike" u="none">
                <a:solidFill>
                  <a:srgbClr val="5b21b6"/>
                </a:solidFill>
                <a:effectLst/>
                <a:uFillTx/>
                <a:latin typeface="Aptos"/>
              </a:rPr>
              <a:t>ATALHO DE PROVA</a:t>
            </a:r>
            <a:endParaRPr b="0" lang="en-US" sz="1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8" name="TextBox 3"/>
          <p:cNvSpPr/>
          <p:nvPr/>
        </p:nvSpPr>
        <p:spPr>
          <a:xfrm>
            <a:off x="10287000" y="182880"/>
            <a:ext cx="1096920" cy="13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r" defTabSz="457200">
              <a:lnSpc>
                <a:spcPct val="100000"/>
              </a:lnSpc>
            </a:pPr>
            <a:r>
              <a:rPr b="1" lang="en-US" sz="900" strike="noStrike" u="none">
                <a:solidFill>
                  <a:srgbClr val="666e7d"/>
                </a:solidFill>
                <a:effectLst/>
                <a:uFillTx/>
                <a:latin typeface="Aptos"/>
              </a:rPr>
              <a:t>AI-901 • EP 3</a:t>
            </a:r>
            <a:endParaRPr b="0" lang="en-US" sz="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9" name="TextBox 4"/>
          <p:cNvSpPr/>
          <p:nvPr/>
        </p:nvSpPr>
        <p:spPr>
          <a:xfrm>
            <a:off x="502920" y="567000"/>
            <a:ext cx="10698120" cy="427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2800" strike="noStrike" u="none">
                <a:solidFill>
                  <a:srgbClr val="1f2937"/>
                </a:solidFill>
                <a:effectLst/>
                <a:uFillTx/>
                <a:latin typeface="Aptos"/>
              </a:rPr>
              <a:t>Olhe o verbo da questão</a:t>
            </a:r>
            <a:endParaRPr b="0" lang="en-US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0" name="Rounded Rectangle 5"/>
          <p:cNvSpPr/>
          <p:nvPr/>
        </p:nvSpPr>
        <p:spPr>
          <a:xfrm>
            <a:off x="822960" y="1600200"/>
            <a:ext cx="6537600" cy="65808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600">
            <a:solidFill>
              <a:srgbClr val="d1d5db"/>
            </a:solidFill>
            <a:round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01" name="TextBox 6"/>
          <p:cNvSpPr/>
          <p:nvPr/>
        </p:nvSpPr>
        <p:spPr>
          <a:xfrm>
            <a:off x="1078920" y="1806840"/>
            <a:ext cx="5988960" cy="244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600" strike="noStrike" u="none">
                <a:solidFill>
                  <a:srgbClr val="1f2937"/>
                </a:solidFill>
                <a:effectLst/>
                <a:uFillTx/>
                <a:latin typeface="Aptos"/>
              </a:rPr>
              <a:t>encontrar os termos principais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2" name="Rounded Rectangle 7"/>
          <p:cNvSpPr/>
          <p:nvPr/>
        </p:nvSpPr>
        <p:spPr>
          <a:xfrm>
            <a:off x="7726680" y="1600200"/>
            <a:ext cx="2971440" cy="658080"/>
          </a:xfrm>
          <a:prstGeom prst="roundRect">
            <a:avLst>
              <a:gd name="adj" fmla="val 16667"/>
            </a:avLst>
          </a:prstGeom>
          <a:solidFill>
            <a:srgbClr val="ede9fe"/>
          </a:solidFill>
          <a:ln w="9360">
            <a:solidFill>
              <a:srgbClr val="ede9fe"/>
            </a:solidFill>
            <a:round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03" name="TextBox 8"/>
          <p:cNvSpPr/>
          <p:nvPr/>
        </p:nvSpPr>
        <p:spPr>
          <a:xfrm>
            <a:off x="7726680" y="1821960"/>
            <a:ext cx="2971440" cy="214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 algn="ctr" defTabSz="457200">
              <a:lnSpc>
                <a:spcPct val="100000"/>
              </a:lnSpc>
            </a:pPr>
            <a:r>
              <a:rPr b="1" lang="en-US" sz="1400" strike="noStrike" u="none">
                <a:solidFill>
                  <a:srgbClr val="5b21b6"/>
                </a:solidFill>
                <a:effectLst/>
                <a:uFillTx/>
                <a:latin typeface="Aptos"/>
              </a:rPr>
              <a:t>PALAVRAS-CHAVE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4" name="Rounded Rectangle 9"/>
          <p:cNvSpPr/>
          <p:nvPr/>
        </p:nvSpPr>
        <p:spPr>
          <a:xfrm>
            <a:off x="822960" y="2560320"/>
            <a:ext cx="6537600" cy="65808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600">
            <a:solidFill>
              <a:srgbClr val="d1d5db"/>
            </a:solidFill>
            <a:round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05" name="TextBox 10"/>
          <p:cNvSpPr/>
          <p:nvPr/>
        </p:nvSpPr>
        <p:spPr>
          <a:xfrm>
            <a:off x="1078920" y="2766960"/>
            <a:ext cx="5988960" cy="244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600" strike="noStrike" u="none">
                <a:solidFill>
                  <a:srgbClr val="1f2937"/>
                </a:solidFill>
                <a:effectLst/>
                <a:uFillTx/>
                <a:latin typeface="Aptos"/>
              </a:rPr>
              <a:t>identificar nomes, locais ou organizações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6" name="Rounded Rectangle 11"/>
          <p:cNvSpPr/>
          <p:nvPr/>
        </p:nvSpPr>
        <p:spPr>
          <a:xfrm>
            <a:off x="7726680" y="2560320"/>
            <a:ext cx="2971440" cy="658080"/>
          </a:xfrm>
          <a:prstGeom prst="roundRect">
            <a:avLst>
              <a:gd name="adj" fmla="val 16667"/>
            </a:avLst>
          </a:prstGeom>
          <a:solidFill>
            <a:srgbClr val="e0f2fe"/>
          </a:solidFill>
          <a:ln w="9360">
            <a:solidFill>
              <a:srgbClr val="e0f2fe"/>
            </a:solidFill>
            <a:round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07" name="TextBox 12"/>
          <p:cNvSpPr/>
          <p:nvPr/>
        </p:nvSpPr>
        <p:spPr>
          <a:xfrm>
            <a:off x="7726680" y="2782080"/>
            <a:ext cx="2971440" cy="214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 algn="ctr" defTabSz="457200">
              <a:lnSpc>
                <a:spcPct val="100000"/>
              </a:lnSpc>
            </a:pPr>
            <a:r>
              <a:rPr b="1" lang="en-US" sz="1400" strike="noStrike" u="none">
                <a:solidFill>
                  <a:srgbClr val="0284c7"/>
                </a:solidFill>
                <a:effectLst/>
                <a:uFillTx/>
                <a:latin typeface="Aptos"/>
              </a:rPr>
              <a:t>ENTIDADES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8" name="Rounded Rectangle 13"/>
          <p:cNvSpPr/>
          <p:nvPr/>
        </p:nvSpPr>
        <p:spPr>
          <a:xfrm>
            <a:off x="822960" y="3520440"/>
            <a:ext cx="6537600" cy="65808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600">
            <a:solidFill>
              <a:srgbClr val="d1d5db"/>
            </a:solidFill>
            <a:round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09" name="TextBox 14"/>
          <p:cNvSpPr/>
          <p:nvPr/>
        </p:nvSpPr>
        <p:spPr>
          <a:xfrm>
            <a:off x="1078920" y="3727080"/>
            <a:ext cx="5988960" cy="244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600" strike="noStrike" u="none">
                <a:solidFill>
                  <a:srgbClr val="1f2937"/>
                </a:solidFill>
                <a:effectLst/>
                <a:uFillTx/>
                <a:latin typeface="Aptos"/>
              </a:rPr>
              <a:t>descobrir opinião ou satisfação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0" name="Rounded Rectangle 15"/>
          <p:cNvSpPr/>
          <p:nvPr/>
        </p:nvSpPr>
        <p:spPr>
          <a:xfrm>
            <a:off x="7726680" y="3520440"/>
            <a:ext cx="2971440" cy="658080"/>
          </a:xfrm>
          <a:prstGeom prst="roundRect">
            <a:avLst>
              <a:gd name="adj" fmla="val 16667"/>
            </a:avLst>
          </a:prstGeom>
          <a:solidFill>
            <a:srgbClr val="ecfdf5"/>
          </a:solidFill>
          <a:ln w="9360">
            <a:solidFill>
              <a:srgbClr val="ecfdf5"/>
            </a:solidFill>
            <a:round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11" name="TextBox 16"/>
          <p:cNvSpPr/>
          <p:nvPr/>
        </p:nvSpPr>
        <p:spPr>
          <a:xfrm>
            <a:off x="7726680" y="3742200"/>
            <a:ext cx="2971440" cy="214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 algn="ctr" defTabSz="457200">
              <a:lnSpc>
                <a:spcPct val="100000"/>
              </a:lnSpc>
            </a:pPr>
            <a:r>
              <a:rPr b="1" lang="en-US" sz="1400" strike="noStrike" u="none">
                <a:solidFill>
                  <a:srgbClr val="059669"/>
                </a:solidFill>
                <a:effectLst/>
                <a:uFillTx/>
                <a:latin typeface="Aptos"/>
              </a:rPr>
              <a:t>SENTIMENTO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2" name="Rounded Rectangle 17"/>
          <p:cNvSpPr/>
          <p:nvPr/>
        </p:nvSpPr>
        <p:spPr>
          <a:xfrm>
            <a:off x="822960" y="4480560"/>
            <a:ext cx="6537600" cy="65808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600">
            <a:solidFill>
              <a:srgbClr val="d1d5db"/>
            </a:solidFill>
            <a:round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13" name="TextBox 18"/>
          <p:cNvSpPr/>
          <p:nvPr/>
        </p:nvSpPr>
        <p:spPr>
          <a:xfrm>
            <a:off x="1078920" y="4687200"/>
            <a:ext cx="5988960" cy="244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600" strike="noStrike" u="none">
                <a:solidFill>
                  <a:srgbClr val="1f2937"/>
                </a:solidFill>
                <a:effectLst/>
                <a:uFillTx/>
                <a:latin typeface="Aptos"/>
              </a:rPr>
              <a:t>reduzir um texto mantendo a ideia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4" name="Rounded Rectangle 19"/>
          <p:cNvSpPr/>
          <p:nvPr/>
        </p:nvSpPr>
        <p:spPr>
          <a:xfrm>
            <a:off x="7726680" y="4480560"/>
            <a:ext cx="2971440" cy="658080"/>
          </a:xfrm>
          <a:prstGeom prst="roundRect">
            <a:avLst>
              <a:gd name="adj" fmla="val 16667"/>
            </a:avLst>
          </a:prstGeom>
          <a:solidFill>
            <a:srgbClr val="fff7ed"/>
          </a:solidFill>
          <a:ln w="9360">
            <a:solidFill>
              <a:srgbClr val="fff7ed"/>
            </a:solidFill>
            <a:round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15" name="TextBox 20"/>
          <p:cNvSpPr/>
          <p:nvPr/>
        </p:nvSpPr>
        <p:spPr>
          <a:xfrm>
            <a:off x="7726680" y="4702320"/>
            <a:ext cx="2971440" cy="214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 algn="ctr" defTabSz="457200">
              <a:lnSpc>
                <a:spcPct val="100000"/>
              </a:lnSpc>
            </a:pPr>
            <a:r>
              <a:rPr b="1" lang="en-US" sz="1400" strike="noStrike" u="none">
                <a:solidFill>
                  <a:srgbClr val="ea580c"/>
                </a:solidFill>
                <a:effectLst/>
                <a:uFillTx/>
                <a:latin typeface="Aptos"/>
              </a:rPr>
              <a:t>RESUMO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8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Rectangle 1"/>
          <p:cNvSpPr/>
          <p:nvPr/>
        </p:nvSpPr>
        <p:spPr>
          <a:xfrm>
            <a:off x="0" y="0"/>
            <a:ext cx="88560" cy="6857640"/>
          </a:xfrm>
          <a:prstGeom prst="rect">
            <a:avLst/>
          </a:prstGeom>
          <a:solidFill>
            <a:srgbClr val="5b21b6"/>
          </a:solidFill>
          <a:ln w="9360">
            <a:noFill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17" name="TextBox 2"/>
          <p:cNvSpPr/>
          <p:nvPr/>
        </p:nvSpPr>
        <p:spPr>
          <a:xfrm>
            <a:off x="502920" y="201240"/>
            <a:ext cx="3657240" cy="153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000" strike="noStrike" u="none">
                <a:solidFill>
                  <a:srgbClr val="5b21b6"/>
                </a:solidFill>
                <a:effectLst/>
                <a:uFillTx/>
                <a:latin typeface="Aptos"/>
              </a:rPr>
              <a:t>IMPLEMENTAÇÃO</a:t>
            </a:r>
            <a:endParaRPr b="0" lang="en-US" sz="1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8" name="TextBox 3"/>
          <p:cNvSpPr/>
          <p:nvPr/>
        </p:nvSpPr>
        <p:spPr>
          <a:xfrm>
            <a:off x="10287000" y="182880"/>
            <a:ext cx="1096920" cy="13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r" defTabSz="457200">
              <a:lnSpc>
                <a:spcPct val="100000"/>
              </a:lnSpc>
            </a:pPr>
            <a:r>
              <a:rPr b="1" lang="en-US" sz="900" strike="noStrike" u="none">
                <a:solidFill>
                  <a:srgbClr val="666e7d"/>
                </a:solidFill>
                <a:effectLst/>
                <a:uFillTx/>
                <a:latin typeface="Aptos"/>
              </a:rPr>
              <a:t>AI-901 • EP 3</a:t>
            </a:r>
            <a:endParaRPr b="0" lang="en-US" sz="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9" name="TextBox 4"/>
          <p:cNvSpPr/>
          <p:nvPr/>
        </p:nvSpPr>
        <p:spPr>
          <a:xfrm>
            <a:off x="502920" y="567000"/>
            <a:ext cx="10698120" cy="427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2800" strike="noStrike" u="none">
                <a:solidFill>
                  <a:srgbClr val="1f2937"/>
                </a:solidFill>
                <a:effectLst/>
                <a:uFillTx/>
                <a:latin typeface="Aptos"/>
              </a:rPr>
              <a:t>Aplicação leve com análise de texto</a:t>
            </a:r>
            <a:endParaRPr b="0" lang="en-US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0" name="Rounded Rectangle 5"/>
          <p:cNvSpPr/>
          <p:nvPr/>
        </p:nvSpPr>
        <p:spPr>
          <a:xfrm>
            <a:off x="822960" y="2148840"/>
            <a:ext cx="2605680" cy="150840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600">
            <a:solidFill>
              <a:srgbClr val="d1d5db"/>
            </a:solidFill>
            <a:round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21" name="TextBox 6"/>
          <p:cNvSpPr/>
          <p:nvPr/>
        </p:nvSpPr>
        <p:spPr>
          <a:xfrm>
            <a:off x="822960" y="2386080"/>
            <a:ext cx="2605680" cy="27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 algn="ctr" defTabSz="457200">
              <a:lnSpc>
                <a:spcPct val="100000"/>
              </a:lnSpc>
            </a:pPr>
            <a:r>
              <a:rPr b="1" lang="en-US" sz="1800" strike="noStrike" u="none">
                <a:solidFill>
                  <a:srgbClr val="5b21b6"/>
                </a:solidFill>
                <a:effectLst/>
                <a:uFillTx/>
                <a:latin typeface="Aptos"/>
              </a:rPr>
              <a:t>Entrada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2" name="TextBox 7"/>
          <p:cNvSpPr/>
          <p:nvPr/>
        </p:nvSpPr>
        <p:spPr>
          <a:xfrm>
            <a:off x="1005840" y="2986200"/>
            <a:ext cx="2239920" cy="199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 algn="ctr" defTabSz="457200">
              <a:lnSpc>
                <a:spcPct val="100000"/>
              </a:lnSpc>
            </a:pPr>
            <a:r>
              <a:rPr b="0" lang="en-US" sz="1300" strike="noStrike" u="none">
                <a:solidFill>
                  <a:srgbClr val="666e7d"/>
                </a:solidFill>
                <a:effectLst/>
                <a:uFillTx/>
                <a:latin typeface="Aptos"/>
              </a:rPr>
              <a:t>Texto do usuário</a:t>
            </a:r>
            <a:endParaRPr b="0" lang="en-US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3" name="Rounded Rectangle 8"/>
          <p:cNvSpPr/>
          <p:nvPr/>
        </p:nvSpPr>
        <p:spPr>
          <a:xfrm>
            <a:off x="4251960" y="2148840"/>
            <a:ext cx="2605680" cy="150840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600">
            <a:solidFill>
              <a:srgbClr val="d1d5db"/>
            </a:solidFill>
            <a:round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24" name="TextBox 9"/>
          <p:cNvSpPr/>
          <p:nvPr/>
        </p:nvSpPr>
        <p:spPr>
          <a:xfrm>
            <a:off x="4251960" y="2386080"/>
            <a:ext cx="2605680" cy="27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 algn="ctr" defTabSz="457200">
              <a:lnSpc>
                <a:spcPct val="100000"/>
              </a:lnSpc>
            </a:pPr>
            <a:r>
              <a:rPr b="1" lang="en-US" sz="1800" strike="noStrike" u="none">
                <a:solidFill>
                  <a:srgbClr val="0284c7"/>
                </a:solidFill>
                <a:effectLst/>
                <a:uFillTx/>
                <a:latin typeface="Aptos"/>
              </a:rPr>
              <a:t>Análise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5" name="TextBox 10"/>
          <p:cNvSpPr/>
          <p:nvPr/>
        </p:nvSpPr>
        <p:spPr>
          <a:xfrm>
            <a:off x="4434840" y="2986200"/>
            <a:ext cx="2239920" cy="199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 algn="ctr" defTabSz="457200">
              <a:lnSpc>
                <a:spcPct val="100000"/>
              </a:lnSpc>
            </a:pPr>
            <a:r>
              <a:rPr b="0" lang="en-US" sz="1300" strike="noStrike" u="none">
                <a:solidFill>
                  <a:srgbClr val="666e7d"/>
                </a:solidFill>
                <a:effectLst/>
                <a:uFillTx/>
                <a:latin typeface="Aptos"/>
              </a:rPr>
              <a:t>Capacidade de texto</a:t>
            </a:r>
            <a:endParaRPr b="0" lang="en-US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6" name="Rounded Rectangle 11"/>
          <p:cNvSpPr/>
          <p:nvPr/>
        </p:nvSpPr>
        <p:spPr>
          <a:xfrm>
            <a:off x="7680960" y="2148840"/>
            <a:ext cx="2605680" cy="150840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600">
            <a:solidFill>
              <a:srgbClr val="d1d5db"/>
            </a:solidFill>
            <a:round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27" name="TextBox 12"/>
          <p:cNvSpPr/>
          <p:nvPr/>
        </p:nvSpPr>
        <p:spPr>
          <a:xfrm>
            <a:off x="7680960" y="2386080"/>
            <a:ext cx="2605680" cy="27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 algn="ctr" defTabSz="457200">
              <a:lnSpc>
                <a:spcPct val="100000"/>
              </a:lnSpc>
            </a:pPr>
            <a:r>
              <a:rPr b="1" lang="en-US" sz="1800" strike="noStrike" u="none">
                <a:solidFill>
                  <a:srgbClr val="059669"/>
                </a:solidFill>
                <a:effectLst/>
                <a:uFillTx/>
                <a:latin typeface="Aptos"/>
              </a:rPr>
              <a:t>Resultado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8" name="TextBox 13"/>
          <p:cNvSpPr/>
          <p:nvPr/>
        </p:nvSpPr>
        <p:spPr>
          <a:xfrm>
            <a:off x="7863840" y="2887200"/>
            <a:ext cx="2239920" cy="397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 algn="ctr" defTabSz="457200">
              <a:lnSpc>
                <a:spcPct val="100000"/>
              </a:lnSpc>
            </a:pPr>
            <a:r>
              <a:rPr b="0" lang="en-US" sz="1300" strike="noStrike" u="none">
                <a:solidFill>
                  <a:srgbClr val="666e7d"/>
                </a:solidFill>
                <a:effectLst/>
                <a:uFillTx/>
                <a:latin typeface="Aptos"/>
              </a:rPr>
              <a:t>Entidade, sentimento, resumo...</a:t>
            </a:r>
            <a:endParaRPr b="0" lang="en-US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229" name="Connector 14"/>
          <p:cNvCxnSpPr/>
          <p:nvPr/>
        </p:nvCxnSpPr>
        <p:spPr>
          <a:xfrm>
            <a:off x="3474720" y="2907720"/>
            <a:ext cx="686160" cy="360"/>
          </a:xfrm>
          <a:prstGeom prst="straightConnector1">
            <a:avLst/>
          </a:prstGeom>
          <a:ln w="23040">
            <a:solidFill>
              <a:srgbClr val="5b21b6"/>
            </a:solidFill>
            <a:round/>
          </a:ln>
        </p:spPr>
      </p:cxnSp>
      <p:cxnSp>
        <p:nvCxnSpPr>
          <p:cNvPr id="230" name="Connector 15"/>
          <p:cNvCxnSpPr/>
          <p:nvPr/>
        </p:nvCxnSpPr>
        <p:spPr>
          <a:xfrm>
            <a:off x="6903720" y="2907720"/>
            <a:ext cx="686160" cy="360"/>
          </a:xfrm>
          <a:prstGeom prst="straightConnector1">
            <a:avLst/>
          </a:prstGeom>
          <a:ln w="23040">
            <a:solidFill>
              <a:srgbClr val="5b21b6"/>
            </a:solidFill>
            <a:round/>
          </a:ln>
        </p:spPr>
      </p:cxnSp>
      <p:sp>
        <p:nvSpPr>
          <p:cNvPr id="231" name="Rounded Rectangle 16"/>
          <p:cNvSpPr/>
          <p:nvPr/>
        </p:nvSpPr>
        <p:spPr>
          <a:xfrm>
            <a:off x="1874520" y="4434840"/>
            <a:ext cx="8092080" cy="658080"/>
          </a:xfrm>
          <a:prstGeom prst="roundRect">
            <a:avLst>
              <a:gd name="adj" fmla="val 16667"/>
            </a:avLst>
          </a:prstGeom>
          <a:solidFill>
            <a:srgbClr val="ede9fe"/>
          </a:solidFill>
          <a:ln w="9360">
            <a:solidFill>
              <a:srgbClr val="ede9fe"/>
            </a:solidFill>
            <a:round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32" name="TextBox 17"/>
          <p:cNvSpPr/>
          <p:nvPr/>
        </p:nvSpPr>
        <p:spPr>
          <a:xfrm>
            <a:off x="1874520" y="4534920"/>
            <a:ext cx="8092080" cy="457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 algn="ctr" defTabSz="457200">
              <a:lnSpc>
                <a:spcPct val="100000"/>
              </a:lnSpc>
            </a:pPr>
            <a:r>
              <a:rPr b="1" lang="en-US" sz="1500" strike="noStrike" u="none">
                <a:solidFill>
                  <a:srgbClr val="5b21b6"/>
                </a:solidFill>
                <a:effectLst/>
                <a:uFillTx/>
                <a:latin typeface="Aptos"/>
              </a:rPr>
              <a:t>“Leve” = o foco da prova é reconhecer o fluxo, não construir uma arquitetura enorme.</a:t>
            </a:r>
            <a:endParaRPr b="0" lang="en-US" sz="1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8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Rectangle 1"/>
          <p:cNvSpPr/>
          <p:nvPr/>
        </p:nvSpPr>
        <p:spPr>
          <a:xfrm>
            <a:off x="0" y="0"/>
            <a:ext cx="88560" cy="6857640"/>
          </a:xfrm>
          <a:prstGeom prst="rect">
            <a:avLst/>
          </a:prstGeom>
          <a:solidFill>
            <a:srgbClr val="5b21b6"/>
          </a:solidFill>
          <a:ln w="9360">
            <a:noFill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34" name="TextBox 2"/>
          <p:cNvSpPr/>
          <p:nvPr/>
        </p:nvSpPr>
        <p:spPr>
          <a:xfrm>
            <a:off x="502920" y="201240"/>
            <a:ext cx="3657240" cy="153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000" strike="noStrike" u="none">
                <a:solidFill>
                  <a:srgbClr val="5b21b6"/>
                </a:solidFill>
                <a:effectLst/>
                <a:uFillTx/>
                <a:latin typeface="Aptos"/>
              </a:rPr>
              <a:t>SPEECH</a:t>
            </a:r>
            <a:endParaRPr b="0" lang="en-US" sz="1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5" name="TextBox 3"/>
          <p:cNvSpPr/>
          <p:nvPr/>
        </p:nvSpPr>
        <p:spPr>
          <a:xfrm>
            <a:off x="10287000" y="182880"/>
            <a:ext cx="1096920" cy="13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r" defTabSz="457200">
              <a:lnSpc>
                <a:spcPct val="100000"/>
              </a:lnSpc>
            </a:pPr>
            <a:r>
              <a:rPr b="1" lang="en-US" sz="900" strike="noStrike" u="none">
                <a:solidFill>
                  <a:srgbClr val="666e7d"/>
                </a:solidFill>
                <a:effectLst/>
                <a:uFillTx/>
                <a:latin typeface="Aptos"/>
              </a:rPr>
              <a:t>AI-901 • EP 3</a:t>
            </a:r>
            <a:endParaRPr b="0" lang="en-US" sz="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6" name="TextBox 4"/>
          <p:cNvSpPr/>
          <p:nvPr/>
        </p:nvSpPr>
        <p:spPr>
          <a:xfrm>
            <a:off x="502920" y="567000"/>
            <a:ext cx="10698120" cy="427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2800" strike="noStrike" u="none">
                <a:solidFill>
                  <a:srgbClr val="1f2937"/>
                </a:solidFill>
                <a:effectLst/>
                <a:uFillTx/>
                <a:latin typeface="Aptos"/>
              </a:rPr>
              <a:t>Reconhecer fala × sintetizar fala</a:t>
            </a:r>
            <a:endParaRPr b="0" lang="en-US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7" name="Rounded Rectangle 5"/>
          <p:cNvSpPr/>
          <p:nvPr/>
        </p:nvSpPr>
        <p:spPr>
          <a:xfrm>
            <a:off x="914400" y="1874520"/>
            <a:ext cx="4708800" cy="251424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600">
            <a:solidFill>
              <a:srgbClr val="d1d5db"/>
            </a:solidFill>
            <a:round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38" name="TextBox 6"/>
          <p:cNvSpPr/>
          <p:nvPr/>
        </p:nvSpPr>
        <p:spPr>
          <a:xfrm>
            <a:off x="1170360" y="2030040"/>
            <a:ext cx="4196880" cy="27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800" strike="noStrike" u="none">
                <a:solidFill>
                  <a:srgbClr val="1f2937"/>
                </a:solidFill>
                <a:effectLst/>
                <a:uFillTx/>
                <a:latin typeface="Aptos"/>
              </a:rPr>
              <a:t>Speech to Text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9" name="TextBox 7"/>
          <p:cNvSpPr/>
          <p:nvPr/>
        </p:nvSpPr>
        <p:spPr>
          <a:xfrm>
            <a:off x="1170360" y="2441520"/>
            <a:ext cx="4196880" cy="914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r>
              <a:rPr b="0" lang="en-US" sz="1500" strike="noStrike" u="none">
                <a:solidFill>
                  <a:srgbClr val="666e7d"/>
                </a:solidFill>
                <a:effectLst/>
                <a:uFillTx/>
                <a:latin typeface="Aptos"/>
              </a:rPr>
              <a:t>Áudio / voz  →  texto</a:t>
            </a:r>
            <a:endParaRPr b="0" lang="en-US" sz="1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endParaRPr b="0" lang="en-US" sz="1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500" strike="noStrike" u="none">
                <a:solidFill>
                  <a:srgbClr val="666e7d"/>
                </a:solidFill>
                <a:effectLst/>
                <a:uFillTx/>
                <a:latin typeface="Aptos"/>
              </a:rPr>
              <a:t>A máquina transforma o que foi falado em palavras.</a:t>
            </a:r>
            <a:endParaRPr b="0" lang="en-US" sz="1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0" name="Rounded Rectangle 8"/>
          <p:cNvSpPr/>
          <p:nvPr/>
        </p:nvSpPr>
        <p:spPr>
          <a:xfrm>
            <a:off x="6537960" y="1874520"/>
            <a:ext cx="4708800" cy="251424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600">
            <a:solidFill>
              <a:srgbClr val="d1d5db"/>
            </a:solidFill>
            <a:round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41" name="TextBox 9"/>
          <p:cNvSpPr/>
          <p:nvPr/>
        </p:nvSpPr>
        <p:spPr>
          <a:xfrm>
            <a:off x="6793920" y="2030040"/>
            <a:ext cx="4196880" cy="27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800" strike="noStrike" u="none">
                <a:solidFill>
                  <a:srgbClr val="1f2937"/>
                </a:solidFill>
                <a:effectLst/>
                <a:uFillTx/>
                <a:latin typeface="Aptos"/>
              </a:rPr>
              <a:t>Text to Speech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2" name="TextBox 10"/>
          <p:cNvSpPr/>
          <p:nvPr/>
        </p:nvSpPr>
        <p:spPr>
          <a:xfrm>
            <a:off x="6793920" y="2441520"/>
            <a:ext cx="4196880" cy="914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r>
              <a:rPr b="0" lang="en-US" sz="1500" strike="noStrike" u="none">
                <a:solidFill>
                  <a:srgbClr val="666e7d"/>
                </a:solidFill>
                <a:effectLst/>
                <a:uFillTx/>
                <a:latin typeface="Aptos"/>
              </a:rPr>
              <a:t>Texto  →  áudio / voz</a:t>
            </a:r>
            <a:endParaRPr b="0" lang="en-US" sz="1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endParaRPr b="0" lang="en-US" sz="1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500" strike="noStrike" u="none">
                <a:solidFill>
                  <a:srgbClr val="666e7d"/>
                </a:solidFill>
                <a:effectLst/>
                <a:uFillTx/>
                <a:latin typeface="Aptos"/>
              </a:rPr>
              <a:t>A máquina transforma palavras em fala sintetizada.</a:t>
            </a:r>
            <a:endParaRPr b="0" lang="en-US" sz="1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3" name="Rounded Rectangle 11"/>
          <p:cNvSpPr/>
          <p:nvPr/>
        </p:nvSpPr>
        <p:spPr>
          <a:xfrm>
            <a:off x="2011680" y="4800600"/>
            <a:ext cx="8137800" cy="566640"/>
          </a:xfrm>
          <a:prstGeom prst="roundRect">
            <a:avLst>
              <a:gd name="adj" fmla="val 16667"/>
            </a:avLst>
          </a:prstGeom>
          <a:solidFill>
            <a:srgbClr val="ede9fe"/>
          </a:solidFill>
          <a:ln w="9360">
            <a:solidFill>
              <a:srgbClr val="ede9fe"/>
            </a:solidFill>
            <a:round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44" name="TextBox 12"/>
          <p:cNvSpPr/>
          <p:nvPr/>
        </p:nvSpPr>
        <p:spPr>
          <a:xfrm>
            <a:off x="2011680" y="4953960"/>
            <a:ext cx="8137800" cy="259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 algn="ctr" defTabSz="457200">
              <a:lnSpc>
                <a:spcPct val="100000"/>
              </a:lnSpc>
            </a:pPr>
            <a:r>
              <a:rPr b="1" lang="en-US" sz="1700" strike="noStrike" u="none">
                <a:solidFill>
                  <a:srgbClr val="5b21b6"/>
                </a:solidFill>
                <a:effectLst/>
                <a:uFillTx/>
                <a:latin typeface="Aptos"/>
              </a:rPr>
              <a:t>Reconhecer = ouvir.  •  Sintetizar = falar.</a:t>
            </a:r>
            <a:endParaRPr b="0" lang="en-US" sz="17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8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Rectangle 1"/>
          <p:cNvSpPr/>
          <p:nvPr/>
        </p:nvSpPr>
        <p:spPr>
          <a:xfrm>
            <a:off x="0" y="0"/>
            <a:ext cx="88560" cy="6857640"/>
          </a:xfrm>
          <a:prstGeom prst="rect">
            <a:avLst/>
          </a:prstGeom>
          <a:solidFill>
            <a:srgbClr val="5b21b6"/>
          </a:solidFill>
          <a:ln w="9360">
            <a:noFill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46" name="TextBox 2"/>
          <p:cNvSpPr/>
          <p:nvPr/>
        </p:nvSpPr>
        <p:spPr>
          <a:xfrm>
            <a:off x="502920" y="201240"/>
            <a:ext cx="3657240" cy="153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000" strike="noStrike" u="none">
                <a:solidFill>
                  <a:srgbClr val="5b21b6"/>
                </a:solidFill>
                <a:effectLst/>
                <a:uFillTx/>
                <a:latin typeface="Aptos"/>
              </a:rPr>
              <a:t>SPEECH</a:t>
            </a:r>
            <a:endParaRPr b="0" lang="en-US" sz="1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7" name="TextBox 3"/>
          <p:cNvSpPr/>
          <p:nvPr/>
        </p:nvSpPr>
        <p:spPr>
          <a:xfrm>
            <a:off x="10287000" y="182880"/>
            <a:ext cx="1096920" cy="13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r" defTabSz="457200">
              <a:lnSpc>
                <a:spcPct val="100000"/>
              </a:lnSpc>
            </a:pPr>
            <a:r>
              <a:rPr b="1" lang="en-US" sz="900" strike="noStrike" u="none">
                <a:solidFill>
                  <a:srgbClr val="666e7d"/>
                </a:solidFill>
                <a:effectLst/>
                <a:uFillTx/>
                <a:latin typeface="Aptos"/>
              </a:rPr>
              <a:t>AI-901 • EP 3</a:t>
            </a:r>
            <a:endParaRPr b="0" lang="en-US" sz="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8" name="TextBox 4"/>
          <p:cNvSpPr/>
          <p:nvPr/>
        </p:nvSpPr>
        <p:spPr>
          <a:xfrm>
            <a:off x="502920" y="567000"/>
            <a:ext cx="10698120" cy="427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2800" strike="noStrike" u="none">
                <a:solidFill>
                  <a:srgbClr val="1f2937"/>
                </a:solidFill>
                <a:effectLst/>
                <a:uFillTx/>
                <a:latin typeface="Aptos"/>
              </a:rPr>
              <a:t>Speech to Text: transformar voz em texto</a:t>
            </a:r>
            <a:endParaRPr b="0" lang="en-US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9" name="Rounded Rectangle 5"/>
          <p:cNvSpPr/>
          <p:nvPr/>
        </p:nvSpPr>
        <p:spPr>
          <a:xfrm>
            <a:off x="914400" y="2194560"/>
            <a:ext cx="2559960" cy="1416960"/>
          </a:xfrm>
          <a:prstGeom prst="roundRect">
            <a:avLst>
              <a:gd name="adj" fmla="val 16667"/>
            </a:avLst>
          </a:prstGeom>
          <a:solidFill>
            <a:srgbClr val="e0f2fe"/>
          </a:solidFill>
          <a:ln w="9360">
            <a:solidFill>
              <a:srgbClr val="e0f2fe"/>
            </a:solidFill>
            <a:round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50" name="TextBox 6"/>
          <p:cNvSpPr/>
          <p:nvPr/>
        </p:nvSpPr>
        <p:spPr>
          <a:xfrm>
            <a:off x="1051560" y="2765520"/>
            <a:ext cx="2285640" cy="27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 algn="ctr" defTabSz="457200">
              <a:lnSpc>
                <a:spcPct val="100000"/>
              </a:lnSpc>
            </a:pPr>
            <a:r>
              <a:rPr b="1" lang="en-US" sz="1800" strike="noStrike" u="none">
                <a:solidFill>
                  <a:srgbClr val="0284c7"/>
                </a:solidFill>
                <a:effectLst/>
                <a:uFillTx/>
                <a:latin typeface="Aptos"/>
              </a:rPr>
              <a:t>🎙  Voz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1" name="Rounded Rectangle 7"/>
          <p:cNvSpPr/>
          <p:nvPr/>
        </p:nvSpPr>
        <p:spPr>
          <a:xfrm>
            <a:off x="4572000" y="2194560"/>
            <a:ext cx="2559960" cy="1416960"/>
          </a:xfrm>
          <a:prstGeom prst="roundRect">
            <a:avLst>
              <a:gd name="adj" fmla="val 16667"/>
            </a:avLst>
          </a:prstGeom>
          <a:solidFill>
            <a:srgbClr val="ede9fe"/>
          </a:solidFill>
          <a:ln w="9360">
            <a:solidFill>
              <a:srgbClr val="ede9fe"/>
            </a:solidFill>
            <a:round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52" name="TextBox 8"/>
          <p:cNvSpPr/>
          <p:nvPr/>
        </p:nvSpPr>
        <p:spPr>
          <a:xfrm>
            <a:off x="4709160" y="2765520"/>
            <a:ext cx="2285640" cy="27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 algn="ctr" defTabSz="457200">
              <a:lnSpc>
                <a:spcPct val="100000"/>
              </a:lnSpc>
            </a:pPr>
            <a:r>
              <a:rPr b="1" lang="en-US" sz="1800" strike="noStrike" u="none">
                <a:solidFill>
                  <a:srgbClr val="5b21b6"/>
                </a:solidFill>
                <a:effectLst/>
                <a:uFillTx/>
                <a:latin typeface="Aptos"/>
              </a:rPr>
              <a:t>Reconhecimento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3" name="Rounded Rectangle 9"/>
          <p:cNvSpPr/>
          <p:nvPr/>
        </p:nvSpPr>
        <p:spPr>
          <a:xfrm>
            <a:off x="8229600" y="2194560"/>
            <a:ext cx="2559960" cy="1416960"/>
          </a:xfrm>
          <a:prstGeom prst="roundRect">
            <a:avLst>
              <a:gd name="adj" fmla="val 16667"/>
            </a:avLst>
          </a:prstGeom>
          <a:solidFill>
            <a:srgbClr val="ecfdf5"/>
          </a:solidFill>
          <a:ln w="9360">
            <a:solidFill>
              <a:srgbClr val="ecfdf5"/>
            </a:solidFill>
            <a:round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54" name="TextBox 10"/>
          <p:cNvSpPr/>
          <p:nvPr/>
        </p:nvSpPr>
        <p:spPr>
          <a:xfrm>
            <a:off x="8366760" y="2628360"/>
            <a:ext cx="2285640" cy="549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 algn="ctr" defTabSz="457200">
              <a:lnSpc>
                <a:spcPct val="100000"/>
              </a:lnSpc>
            </a:pPr>
            <a:r>
              <a:rPr b="1" lang="en-US" sz="1800" strike="noStrike" u="none">
                <a:solidFill>
                  <a:srgbClr val="059669"/>
                </a:solidFill>
                <a:effectLst/>
                <a:uFillTx/>
                <a:latin typeface="Aptos"/>
              </a:rPr>
              <a:t>“Quero consultar meu pedido”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255" name="Connector 11"/>
          <p:cNvCxnSpPr/>
          <p:nvPr/>
        </p:nvCxnSpPr>
        <p:spPr>
          <a:xfrm>
            <a:off x="3520440" y="2907720"/>
            <a:ext cx="960480" cy="360"/>
          </a:xfrm>
          <a:prstGeom prst="straightConnector1">
            <a:avLst/>
          </a:prstGeom>
          <a:ln w="23040">
            <a:solidFill>
              <a:srgbClr val="5b21b6"/>
            </a:solidFill>
            <a:round/>
          </a:ln>
        </p:spPr>
      </p:cxnSp>
      <p:cxnSp>
        <p:nvCxnSpPr>
          <p:cNvPr id="256" name="Connector 12"/>
          <p:cNvCxnSpPr/>
          <p:nvPr/>
        </p:nvCxnSpPr>
        <p:spPr>
          <a:xfrm>
            <a:off x="7178040" y="2907720"/>
            <a:ext cx="960480" cy="360"/>
          </a:xfrm>
          <a:prstGeom prst="straightConnector1">
            <a:avLst/>
          </a:prstGeom>
          <a:ln w="23040">
            <a:solidFill>
              <a:srgbClr val="5b21b6"/>
            </a:solidFill>
            <a:round/>
          </a:ln>
        </p:spPr>
      </p:cxnSp>
      <p:sp>
        <p:nvSpPr>
          <p:cNvPr id="257" name="TextBox 13"/>
          <p:cNvSpPr/>
          <p:nvPr/>
        </p:nvSpPr>
        <p:spPr>
          <a:xfrm>
            <a:off x="822960" y="4586760"/>
            <a:ext cx="10423800" cy="244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 algn="ctr" defTabSz="457200">
              <a:lnSpc>
                <a:spcPct val="100000"/>
              </a:lnSpc>
            </a:pPr>
            <a:r>
              <a:rPr b="1" lang="en-US" sz="1600" strike="noStrike" u="none">
                <a:solidFill>
                  <a:srgbClr val="0284c7"/>
                </a:solidFill>
                <a:effectLst/>
                <a:uFillTx/>
                <a:latin typeface="Aptos"/>
              </a:rPr>
              <a:t>Gatilho: “transcrever”, “converter fala em texto”, “reconhecer o que foi dito”.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8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Rectangle 1"/>
          <p:cNvSpPr/>
          <p:nvPr/>
        </p:nvSpPr>
        <p:spPr>
          <a:xfrm>
            <a:off x="0" y="0"/>
            <a:ext cx="88560" cy="6857640"/>
          </a:xfrm>
          <a:prstGeom prst="rect">
            <a:avLst/>
          </a:prstGeom>
          <a:solidFill>
            <a:srgbClr val="5b21b6"/>
          </a:solidFill>
          <a:ln w="9360">
            <a:noFill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59" name="TextBox 2"/>
          <p:cNvSpPr/>
          <p:nvPr/>
        </p:nvSpPr>
        <p:spPr>
          <a:xfrm>
            <a:off x="502920" y="201240"/>
            <a:ext cx="3657240" cy="153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000" strike="noStrike" u="none">
                <a:solidFill>
                  <a:srgbClr val="5b21b6"/>
                </a:solidFill>
                <a:effectLst/>
                <a:uFillTx/>
                <a:latin typeface="Aptos"/>
              </a:rPr>
              <a:t>SPEECH</a:t>
            </a:r>
            <a:endParaRPr b="0" lang="en-US" sz="1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0" name="TextBox 3"/>
          <p:cNvSpPr/>
          <p:nvPr/>
        </p:nvSpPr>
        <p:spPr>
          <a:xfrm>
            <a:off x="10287000" y="182880"/>
            <a:ext cx="1096920" cy="13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r" defTabSz="457200">
              <a:lnSpc>
                <a:spcPct val="100000"/>
              </a:lnSpc>
            </a:pPr>
            <a:r>
              <a:rPr b="1" lang="en-US" sz="900" strike="noStrike" u="none">
                <a:solidFill>
                  <a:srgbClr val="666e7d"/>
                </a:solidFill>
                <a:effectLst/>
                <a:uFillTx/>
                <a:latin typeface="Aptos"/>
              </a:rPr>
              <a:t>AI-901 • EP 3</a:t>
            </a:r>
            <a:endParaRPr b="0" lang="en-US" sz="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1" name="TextBox 4"/>
          <p:cNvSpPr/>
          <p:nvPr/>
        </p:nvSpPr>
        <p:spPr>
          <a:xfrm>
            <a:off x="502920" y="567000"/>
            <a:ext cx="10698120" cy="427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2800" strike="noStrike" u="none">
                <a:solidFill>
                  <a:srgbClr val="1f2937"/>
                </a:solidFill>
                <a:effectLst/>
                <a:uFillTx/>
                <a:latin typeface="Aptos"/>
              </a:rPr>
              <a:t>Text to Speech: transformar texto em voz</a:t>
            </a:r>
            <a:endParaRPr b="0" lang="en-US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2" name="Rounded Rectangle 5"/>
          <p:cNvSpPr/>
          <p:nvPr/>
        </p:nvSpPr>
        <p:spPr>
          <a:xfrm>
            <a:off x="914400" y="2194560"/>
            <a:ext cx="2559960" cy="1416960"/>
          </a:xfrm>
          <a:prstGeom prst="roundRect">
            <a:avLst>
              <a:gd name="adj" fmla="val 16667"/>
            </a:avLst>
          </a:prstGeom>
          <a:solidFill>
            <a:srgbClr val="ecfdf5"/>
          </a:solidFill>
          <a:ln w="9360">
            <a:solidFill>
              <a:srgbClr val="ecfdf5"/>
            </a:solidFill>
            <a:round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63" name="TextBox 6"/>
          <p:cNvSpPr/>
          <p:nvPr/>
        </p:nvSpPr>
        <p:spPr>
          <a:xfrm>
            <a:off x="1051560" y="2628360"/>
            <a:ext cx="2285640" cy="549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 algn="ctr" defTabSz="457200">
              <a:lnSpc>
                <a:spcPct val="100000"/>
              </a:lnSpc>
            </a:pPr>
            <a:r>
              <a:rPr b="1" lang="en-US" sz="1800" strike="noStrike" u="none">
                <a:solidFill>
                  <a:srgbClr val="059669"/>
                </a:solidFill>
                <a:effectLst/>
                <a:uFillTx/>
                <a:latin typeface="Aptos"/>
              </a:rPr>
              <a:t>“Seu pedido foi enviado.”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4" name="Rounded Rectangle 7"/>
          <p:cNvSpPr/>
          <p:nvPr/>
        </p:nvSpPr>
        <p:spPr>
          <a:xfrm>
            <a:off x="4572000" y="2194560"/>
            <a:ext cx="2559960" cy="1416960"/>
          </a:xfrm>
          <a:prstGeom prst="roundRect">
            <a:avLst>
              <a:gd name="adj" fmla="val 16667"/>
            </a:avLst>
          </a:prstGeom>
          <a:solidFill>
            <a:srgbClr val="ede9fe"/>
          </a:solidFill>
          <a:ln w="9360">
            <a:solidFill>
              <a:srgbClr val="ede9fe"/>
            </a:solidFill>
            <a:round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65" name="TextBox 8"/>
          <p:cNvSpPr/>
          <p:nvPr/>
        </p:nvSpPr>
        <p:spPr>
          <a:xfrm>
            <a:off x="4709160" y="2765520"/>
            <a:ext cx="2285640" cy="27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 algn="ctr" defTabSz="457200">
              <a:lnSpc>
                <a:spcPct val="100000"/>
              </a:lnSpc>
            </a:pPr>
            <a:r>
              <a:rPr b="1" lang="en-US" sz="1800" strike="noStrike" u="none">
                <a:solidFill>
                  <a:srgbClr val="5b21b6"/>
                </a:solidFill>
                <a:effectLst/>
                <a:uFillTx/>
                <a:latin typeface="Aptos"/>
              </a:rPr>
              <a:t>Síntese de fala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6" name="Rounded Rectangle 9"/>
          <p:cNvSpPr/>
          <p:nvPr/>
        </p:nvSpPr>
        <p:spPr>
          <a:xfrm>
            <a:off x="8229600" y="2194560"/>
            <a:ext cx="2559960" cy="1416960"/>
          </a:xfrm>
          <a:prstGeom prst="roundRect">
            <a:avLst>
              <a:gd name="adj" fmla="val 16667"/>
            </a:avLst>
          </a:prstGeom>
          <a:solidFill>
            <a:srgbClr val="e0f2fe"/>
          </a:solidFill>
          <a:ln w="9360">
            <a:solidFill>
              <a:srgbClr val="e0f2fe"/>
            </a:solidFill>
            <a:round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67" name="TextBox 10"/>
          <p:cNvSpPr/>
          <p:nvPr/>
        </p:nvSpPr>
        <p:spPr>
          <a:xfrm>
            <a:off x="8366760" y="2765520"/>
            <a:ext cx="2285640" cy="27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 algn="ctr" defTabSz="457200">
              <a:lnSpc>
                <a:spcPct val="100000"/>
              </a:lnSpc>
            </a:pPr>
            <a:r>
              <a:rPr b="1" lang="en-US" sz="1800" strike="noStrike" u="none">
                <a:solidFill>
                  <a:srgbClr val="0284c7"/>
                </a:solidFill>
                <a:effectLst/>
                <a:uFillTx/>
                <a:latin typeface="Aptos"/>
              </a:rPr>
              <a:t>🔊  Voz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268" name="Connector 11"/>
          <p:cNvCxnSpPr/>
          <p:nvPr/>
        </p:nvCxnSpPr>
        <p:spPr>
          <a:xfrm>
            <a:off x="3520440" y="2907720"/>
            <a:ext cx="960480" cy="360"/>
          </a:xfrm>
          <a:prstGeom prst="straightConnector1">
            <a:avLst/>
          </a:prstGeom>
          <a:ln w="23040">
            <a:solidFill>
              <a:srgbClr val="5b21b6"/>
            </a:solidFill>
            <a:round/>
          </a:ln>
        </p:spPr>
      </p:cxnSp>
      <p:cxnSp>
        <p:nvCxnSpPr>
          <p:cNvPr id="269" name="Connector 12"/>
          <p:cNvCxnSpPr/>
          <p:nvPr/>
        </p:nvCxnSpPr>
        <p:spPr>
          <a:xfrm>
            <a:off x="7178040" y="2907720"/>
            <a:ext cx="960480" cy="360"/>
          </a:xfrm>
          <a:prstGeom prst="straightConnector1">
            <a:avLst/>
          </a:prstGeom>
          <a:ln w="23040">
            <a:solidFill>
              <a:srgbClr val="5b21b6"/>
            </a:solidFill>
            <a:round/>
          </a:ln>
        </p:spPr>
      </p:cxnSp>
      <p:sp>
        <p:nvSpPr>
          <p:cNvPr id="270" name="TextBox 13"/>
          <p:cNvSpPr/>
          <p:nvPr/>
        </p:nvSpPr>
        <p:spPr>
          <a:xfrm>
            <a:off x="822960" y="4586760"/>
            <a:ext cx="10423800" cy="244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 algn="ctr" defTabSz="457200">
              <a:lnSpc>
                <a:spcPct val="100000"/>
              </a:lnSpc>
            </a:pPr>
            <a:r>
              <a:rPr b="1" lang="en-US" sz="1600" strike="noStrike" u="none">
                <a:solidFill>
                  <a:srgbClr val="5b21b6"/>
                </a:solidFill>
                <a:effectLst/>
                <a:uFillTx/>
                <a:latin typeface="Aptos"/>
              </a:rPr>
              <a:t>Gatilho: “gerar áudio”, “ler em voz alta”, “sintetizar fala”.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8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" name="Rectangle 1"/>
          <p:cNvSpPr/>
          <p:nvPr/>
        </p:nvSpPr>
        <p:spPr>
          <a:xfrm>
            <a:off x="0" y="0"/>
            <a:ext cx="88560" cy="6857640"/>
          </a:xfrm>
          <a:prstGeom prst="rect">
            <a:avLst/>
          </a:prstGeom>
          <a:solidFill>
            <a:srgbClr val="5b21b6"/>
          </a:solidFill>
          <a:ln w="9360">
            <a:noFill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72" name="TextBox 2"/>
          <p:cNvSpPr/>
          <p:nvPr/>
        </p:nvSpPr>
        <p:spPr>
          <a:xfrm>
            <a:off x="502920" y="201240"/>
            <a:ext cx="3657240" cy="153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000" strike="noStrike" u="none">
                <a:solidFill>
                  <a:srgbClr val="5b21b6"/>
                </a:solidFill>
                <a:effectLst/>
                <a:uFillTx/>
                <a:latin typeface="Aptos"/>
              </a:rPr>
              <a:t>MULTIMODAL</a:t>
            </a:r>
            <a:endParaRPr b="0" lang="en-US" sz="1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3" name="TextBox 3"/>
          <p:cNvSpPr/>
          <p:nvPr/>
        </p:nvSpPr>
        <p:spPr>
          <a:xfrm>
            <a:off x="10287000" y="182880"/>
            <a:ext cx="1096920" cy="13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r" defTabSz="457200">
              <a:lnSpc>
                <a:spcPct val="100000"/>
              </a:lnSpc>
            </a:pPr>
            <a:r>
              <a:rPr b="1" lang="en-US" sz="900" strike="noStrike" u="none">
                <a:solidFill>
                  <a:srgbClr val="666e7d"/>
                </a:solidFill>
                <a:effectLst/>
                <a:uFillTx/>
                <a:latin typeface="Aptos"/>
              </a:rPr>
              <a:t>AI-901 • EP 3</a:t>
            </a:r>
            <a:endParaRPr b="0" lang="en-US" sz="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4" name="TextBox 4"/>
          <p:cNvSpPr/>
          <p:nvPr/>
        </p:nvSpPr>
        <p:spPr>
          <a:xfrm>
            <a:off x="502920" y="567000"/>
            <a:ext cx="10698120" cy="427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2800" strike="noStrike" u="none">
                <a:solidFill>
                  <a:srgbClr val="1f2937"/>
                </a:solidFill>
                <a:effectLst/>
                <a:uFillTx/>
                <a:latin typeface="Aptos"/>
              </a:rPr>
              <a:t>Prompt falado usando um modelo multimodal</a:t>
            </a:r>
            <a:endParaRPr b="0" lang="en-US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5" name="Rounded Rectangle 5"/>
          <p:cNvSpPr/>
          <p:nvPr/>
        </p:nvSpPr>
        <p:spPr>
          <a:xfrm>
            <a:off x="685800" y="2011680"/>
            <a:ext cx="3245760" cy="191988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600">
            <a:solidFill>
              <a:srgbClr val="d1d5db"/>
            </a:solidFill>
            <a:round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76" name="TextBox 6"/>
          <p:cNvSpPr/>
          <p:nvPr/>
        </p:nvSpPr>
        <p:spPr>
          <a:xfrm>
            <a:off x="868680" y="2358720"/>
            <a:ext cx="2880000" cy="27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 algn="ctr" defTabSz="457200">
              <a:lnSpc>
                <a:spcPct val="100000"/>
              </a:lnSpc>
            </a:pPr>
            <a:r>
              <a:rPr b="1" lang="en-US" sz="1800" strike="noStrike" u="none">
                <a:solidFill>
                  <a:srgbClr val="0284c7"/>
                </a:solidFill>
                <a:effectLst/>
                <a:uFillTx/>
                <a:latin typeface="Aptos"/>
              </a:rPr>
              <a:t>Usuário fala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7" name="TextBox 7"/>
          <p:cNvSpPr/>
          <p:nvPr/>
        </p:nvSpPr>
        <p:spPr>
          <a:xfrm>
            <a:off x="960120" y="3105000"/>
            <a:ext cx="2697120" cy="199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 algn="ctr" defTabSz="457200">
              <a:lnSpc>
                <a:spcPct val="100000"/>
              </a:lnSpc>
            </a:pPr>
            <a:r>
              <a:rPr b="0" lang="en-US" sz="1300" strike="noStrike" u="none">
                <a:solidFill>
                  <a:srgbClr val="666e7d"/>
                </a:solidFill>
                <a:effectLst/>
                <a:uFillTx/>
                <a:latin typeface="Aptos"/>
              </a:rPr>
              <a:t>“Qual é o status do pedido?”</a:t>
            </a:r>
            <a:endParaRPr b="0" lang="en-US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278" name="Connector 8"/>
          <p:cNvCxnSpPr/>
          <p:nvPr/>
        </p:nvCxnSpPr>
        <p:spPr>
          <a:xfrm>
            <a:off x="3995640" y="2971800"/>
            <a:ext cx="393840" cy="360"/>
          </a:xfrm>
          <a:prstGeom prst="straightConnector1">
            <a:avLst/>
          </a:prstGeom>
          <a:ln w="23040">
            <a:solidFill>
              <a:srgbClr val="5b21b6"/>
            </a:solidFill>
            <a:round/>
          </a:ln>
        </p:spPr>
      </p:cxnSp>
      <p:sp>
        <p:nvSpPr>
          <p:cNvPr id="279" name="Rounded Rectangle 9"/>
          <p:cNvSpPr/>
          <p:nvPr/>
        </p:nvSpPr>
        <p:spPr>
          <a:xfrm>
            <a:off x="4480560" y="2011680"/>
            <a:ext cx="3245760" cy="191988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600">
            <a:solidFill>
              <a:srgbClr val="d1d5db"/>
            </a:solidFill>
            <a:round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80" name="TextBox 10"/>
          <p:cNvSpPr/>
          <p:nvPr/>
        </p:nvSpPr>
        <p:spPr>
          <a:xfrm>
            <a:off x="4663440" y="2358720"/>
            <a:ext cx="2880000" cy="27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 algn="ctr" defTabSz="457200">
              <a:lnSpc>
                <a:spcPct val="100000"/>
              </a:lnSpc>
            </a:pPr>
            <a:r>
              <a:rPr b="1" lang="en-US" sz="1800" strike="noStrike" u="none">
                <a:solidFill>
                  <a:srgbClr val="5b21b6"/>
                </a:solidFill>
                <a:effectLst/>
                <a:uFillTx/>
                <a:latin typeface="Aptos"/>
              </a:rPr>
              <a:t>Modelo multimodal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1" name="TextBox 11"/>
          <p:cNvSpPr/>
          <p:nvPr/>
        </p:nvSpPr>
        <p:spPr>
          <a:xfrm>
            <a:off x="4754880" y="3105000"/>
            <a:ext cx="2697120" cy="199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 algn="ctr" defTabSz="457200">
              <a:lnSpc>
                <a:spcPct val="100000"/>
              </a:lnSpc>
            </a:pPr>
            <a:r>
              <a:rPr b="0" lang="en-US" sz="1300" strike="noStrike" u="none">
                <a:solidFill>
                  <a:srgbClr val="666e7d"/>
                </a:solidFill>
                <a:effectLst/>
                <a:uFillTx/>
                <a:latin typeface="Aptos"/>
              </a:rPr>
              <a:t>Entende a entrada falada</a:t>
            </a:r>
            <a:endParaRPr b="0" lang="en-US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282" name="Connector 12"/>
          <p:cNvCxnSpPr/>
          <p:nvPr/>
        </p:nvCxnSpPr>
        <p:spPr>
          <a:xfrm>
            <a:off x="7790400" y="2971800"/>
            <a:ext cx="393840" cy="360"/>
          </a:xfrm>
          <a:prstGeom prst="straightConnector1">
            <a:avLst/>
          </a:prstGeom>
          <a:ln w="23040">
            <a:solidFill>
              <a:srgbClr val="5b21b6"/>
            </a:solidFill>
            <a:round/>
          </a:ln>
        </p:spPr>
      </p:cxnSp>
      <p:sp>
        <p:nvSpPr>
          <p:cNvPr id="283" name="Rounded Rectangle 13"/>
          <p:cNvSpPr/>
          <p:nvPr/>
        </p:nvSpPr>
        <p:spPr>
          <a:xfrm>
            <a:off x="8275320" y="2011680"/>
            <a:ext cx="3245760" cy="191988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600">
            <a:solidFill>
              <a:srgbClr val="d1d5db"/>
            </a:solidFill>
            <a:round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84" name="TextBox 14"/>
          <p:cNvSpPr/>
          <p:nvPr/>
        </p:nvSpPr>
        <p:spPr>
          <a:xfrm>
            <a:off x="8458200" y="2358720"/>
            <a:ext cx="2880000" cy="27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 algn="ctr" defTabSz="457200">
              <a:lnSpc>
                <a:spcPct val="100000"/>
              </a:lnSpc>
            </a:pPr>
            <a:r>
              <a:rPr b="1" lang="en-US" sz="1800" strike="noStrike" u="none">
                <a:solidFill>
                  <a:srgbClr val="059669"/>
                </a:solidFill>
                <a:effectLst/>
                <a:uFillTx/>
                <a:latin typeface="Aptos"/>
              </a:rPr>
              <a:t>Resposta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5" name="TextBox 15"/>
          <p:cNvSpPr/>
          <p:nvPr/>
        </p:nvSpPr>
        <p:spPr>
          <a:xfrm>
            <a:off x="8549640" y="3105000"/>
            <a:ext cx="2697120" cy="199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 algn="ctr" defTabSz="457200">
              <a:lnSpc>
                <a:spcPct val="100000"/>
              </a:lnSpc>
            </a:pPr>
            <a:r>
              <a:rPr b="0" lang="en-US" sz="1300" strike="noStrike" u="none">
                <a:solidFill>
                  <a:srgbClr val="666e7d"/>
                </a:solidFill>
                <a:effectLst/>
                <a:uFillTx/>
                <a:latin typeface="Aptos"/>
              </a:rPr>
              <a:t>Gera a saída adequada</a:t>
            </a:r>
            <a:endParaRPr b="0" lang="en-US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6" name="Rounded Rectangle 16"/>
          <p:cNvSpPr/>
          <p:nvPr/>
        </p:nvSpPr>
        <p:spPr>
          <a:xfrm>
            <a:off x="1417320" y="4434840"/>
            <a:ext cx="9052200" cy="712800"/>
          </a:xfrm>
          <a:prstGeom prst="roundRect">
            <a:avLst>
              <a:gd name="adj" fmla="val 16667"/>
            </a:avLst>
          </a:prstGeom>
          <a:solidFill>
            <a:srgbClr val="ede9fe"/>
          </a:solidFill>
          <a:ln w="9360">
            <a:solidFill>
              <a:srgbClr val="ede9fe"/>
            </a:solidFill>
            <a:round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87" name="TextBox 17"/>
          <p:cNvSpPr/>
          <p:nvPr/>
        </p:nvSpPr>
        <p:spPr>
          <a:xfrm>
            <a:off x="1417320" y="4562280"/>
            <a:ext cx="9052200" cy="457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 algn="ctr" defTabSz="457200">
              <a:lnSpc>
                <a:spcPct val="100000"/>
              </a:lnSpc>
            </a:pPr>
            <a:r>
              <a:rPr b="1" lang="en-US" sz="1500" strike="noStrike" u="none">
                <a:solidFill>
                  <a:srgbClr val="5b21b6"/>
                </a:solidFill>
                <a:effectLst/>
                <a:uFillTx/>
                <a:latin typeface="Aptos"/>
              </a:rPr>
              <a:t>A AI-901 cita explicitamente responder a prompts falados com um modelo multimodal implantado.</a:t>
            </a:r>
            <a:endParaRPr b="0" lang="en-US" sz="1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8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" name="Rectangle 1"/>
          <p:cNvSpPr/>
          <p:nvPr/>
        </p:nvSpPr>
        <p:spPr>
          <a:xfrm>
            <a:off x="0" y="0"/>
            <a:ext cx="88560" cy="6857640"/>
          </a:xfrm>
          <a:prstGeom prst="rect">
            <a:avLst/>
          </a:prstGeom>
          <a:solidFill>
            <a:srgbClr val="5b21b6"/>
          </a:solidFill>
          <a:ln w="9360">
            <a:noFill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89" name="TextBox 2"/>
          <p:cNvSpPr/>
          <p:nvPr/>
        </p:nvSpPr>
        <p:spPr>
          <a:xfrm>
            <a:off x="502920" y="201240"/>
            <a:ext cx="3657240" cy="153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000" strike="noStrike" u="none">
                <a:solidFill>
                  <a:srgbClr val="5b21b6"/>
                </a:solidFill>
                <a:effectLst/>
                <a:uFillTx/>
                <a:latin typeface="Aptos"/>
              </a:rPr>
              <a:t>FOUNDRY TOOLS</a:t>
            </a:r>
            <a:endParaRPr b="0" lang="en-US" sz="1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0" name="TextBox 3"/>
          <p:cNvSpPr/>
          <p:nvPr/>
        </p:nvSpPr>
        <p:spPr>
          <a:xfrm>
            <a:off x="10287000" y="182880"/>
            <a:ext cx="1096920" cy="13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r" defTabSz="457200">
              <a:lnSpc>
                <a:spcPct val="100000"/>
              </a:lnSpc>
            </a:pPr>
            <a:r>
              <a:rPr b="1" lang="en-US" sz="900" strike="noStrike" u="none">
                <a:solidFill>
                  <a:srgbClr val="666e7d"/>
                </a:solidFill>
                <a:effectLst/>
                <a:uFillTx/>
                <a:latin typeface="Aptos"/>
              </a:rPr>
              <a:t>AI-901 • EP 3</a:t>
            </a:r>
            <a:endParaRPr b="0" lang="en-US" sz="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1" name="TextBox 4"/>
          <p:cNvSpPr/>
          <p:nvPr/>
        </p:nvSpPr>
        <p:spPr>
          <a:xfrm>
            <a:off x="502920" y="567000"/>
            <a:ext cx="10698120" cy="427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2800" strike="noStrike" u="none">
                <a:solidFill>
                  <a:srgbClr val="1f2937"/>
                </a:solidFill>
                <a:effectLst/>
                <a:uFillTx/>
                <a:latin typeface="Aptos"/>
              </a:rPr>
              <a:t>Onde entra o Azure Speech?</a:t>
            </a:r>
            <a:endParaRPr b="0" lang="en-US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2" name="TextBox 5"/>
          <p:cNvSpPr/>
          <p:nvPr/>
        </p:nvSpPr>
        <p:spPr>
          <a:xfrm>
            <a:off x="685800" y="1572840"/>
            <a:ext cx="10240920" cy="27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800" strike="noStrike" u="none">
                <a:solidFill>
                  <a:srgbClr val="1f2937"/>
                </a:solidFill>
                <a:effectLst/>
                <a:uFillTx/>
                <a:latin typeface="Aptos"/>
              </a:rPr>
              <a:t>Use quando a solução precisa de capacidades especializadas de fala.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3" name="Rounded Rectangle 6"/>
          <p:cNvSpPr/>
          <p:nvPr/>
        </p:nvSpPr>
        <p:spPr>
          <a:xfrm>
            <a:off x="731520" y="2240280"/>
            <a:ext cx="3245760" cy="187416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600">
            <a:solidFill>
              <a:srgbClr val="d1d5db"/>
            </a:solidFill>
            <a:round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94" name="TextBox 7"/>
          <p:cNvSpPr/>
          <p:nvPr/>
        </p:nvSpPr>
        <p:spPr>
          <a:xfrm>
            <a:off x="987480" y="2395800"/>
            <a:ext cx="2733840" cy="27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800" strike="noStrike" u="none">
                <a:solidFill>
                  <a:srgbClr val="1f2937"/>
                </a:solidFill>
                <a:effectLst/>
                <a:uFillTx/>
                <a:latin typeface="Aptos"/>
              </a:rPr>
              <a:t>Reconhecer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5" name="TextBox 8"/>
          <p:cNvSpPr/>
          <p:nvPr/>
        </p:nvSpPr>
        <p:spPr>
          <a:xfrm>
            <a:off x="987480" y="2807280"/>
            <a:ext cx="2733840" cy="427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400" strike="noStrike" u="none">
                <a:solidFill>
                  <a:srgbClr val="666e7d"/>
                </a:solidFill>
                <a:effectLst/>
                <a:uFillTx/>
                <a:latin typeface="Aptos"/>
              </a:rPr>
              <a:t>Capturar fala e transformar em texto.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6" name="Rounded Rectangle 9"/>
          <p:cNvSpPr/>
          <p:nvPr/>
        </p:nvSpPr>
        <p:spPr>
          <a:xfrm>
            <a:off x="4480560" y="2240280"/>
            <a:ext cx="3245760" cy="187416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600">
            <a:solidFill>
              <a:srgbClr val="d1d5db"/>
            </a:solidFill>
            <a:round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97" name="TextBox 10"/>
          <p:cNvSpPr/>
          <p:nvPr/>
        </p:nvSpPr>
        <p:spPr>
          <a:xfrm>
            <a:off x="4736520" y="2395800"/>
            <a:ext cx="2733840" cy="27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800" strike="noStrike" u="none">
                <a:solidFill>
                  <a:srgbClr val="1f2937"/>
                </a:solidFill>
                <a:effectLst/>
                <a:uFillTx/>
                <a:latin typeface="Aptos"/>
              </a:rPr>
              <a:t>Sintetizar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8" name="TextBox 11"/>
          <p:cNvSpPr/>
          <p:nvPr/>
        </p:nvSpPr>
        <p:spPr>
          <a:xfrm>
            <a:off x="4736520" y="2807280"/>
            <a:ext cx="2733840" cy="213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400" strike="noStrike" u="none">
                <a:solidFill>
                  <a:srgbClr val="666e7d"/>
                </a:solidFill>
                <a:effectLst/>
                <a:uFillTx/>
                <a:latin typeface="Aptos"/>
              </a:rPr>
              <a:t>Transformar texto em voz.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9" name="Rounded Rectangle 12"/>
          <p:cNvSpPr/>
          <p:nvPr/>
        </p:nvSpPr>
        <p:spPr>
          <a:xfrm>
            <a:off x="8229600" y="2240280"/>
            <a:ext cx="2880000" cy="187416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600">
            <a:solidFill>
              <a:srgbClr val="d1d5db"/>
            </a:solidFill>
            <a:round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00" name="TextBox 13"/>
          <p:cNvSpPr/>
          <p:nvPr/>
        </p:nvSpPr>
        <p:spPr>
          <a:xfrm>
            <a:off x="8485560" y="2395800"/>
            <a:ext cx="2368080" cy="27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800" strike="noStrike" u="none">
                <a:solidFill>
                  <a:srgbClr val="1f2937"/>
                </a:solidFill>
                <a:effectLst/>
                <a:uFillTx/>
                <a:latin typeface="Aptos"/>
              </a:rPr>
              <a:t>Integrar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1" name="TextBox 14"/>
          <p:cNvSpPr/>
          <p:nvPr/>
        </p:nvSpPr>
        <p:spPr>
          <a:xfrm>
            <a:off x="8485560" y="2807280"/>
            <a:ext cx="2368080" cy="427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400" strike="noStrike" u="none">
                <a:solidFill>
                  <a:srgbClr val="666e7d"/>
                </a:solidFill>
                <a:effectLst/>
                <a:uFillTx/>
                <a:latin typeface="Aptos"/>
              </a:rPr>
              <a:t>Usar a capacidade em um app leve.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2" name="Rounded Rectangle 15"/>
          <p:cNvSpPr/>
          <p:nvPr/>
        </p:nvSpPr>
        <p:spPr>
          <a:xfrm>
            <a:off x="2103120" y="4617720"/>
            <a:ext cx="8046360" cy="639720"/>
          </a:xfrm>
          <a:prstGeom prst="roundRect">
            <a:avLst>
              <a:gd name="adj" fmla="val 16667"/>
            </a:avLst>
          </a:prstGeom>
          <a:solidFill>
            <a:srgbClr val="fff7ed"/>
          </a:solidFill>
          <a:ln w="9360">
            <a:solidFill>
              <a:srgbClr val="fff7ed"/>
            </a:solidFill>
            <a:round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03" name="TextBox 16"/>
          <p:cNvSpPr/>
          <p:nvPr/>
        </p:nvSpPr>
        <p:spPr>
          <a:xfrm>
            <a:off x="2103120" y="4723920"/>
            <a:ext cx="8046360" cy="427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 algn="ctr" defTabSz="457200">
              <a:lnSpc>
                <a:spcPct val="100000"/>
              </a:lnSpc>
            </a:pPr>
            <a:r>
              <a:rPr b="1" lang="en-US" sz="1400" strike="noStrike" u="none">
                <a:solidFill>
                  <a:srgbClr val="ea580c"/>
                </a:solidFill>
                <a:effectLst/>
                <a:uFillTx/>
                <a:latin typeface="Aptos"/>
              </a:rPr>
              <a:t>Não confunda “modelo multimodal” com “Azure Speech”: os dois podem aparecer no bloco de fala.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8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" name="Rectangle 1"/>
          <p:cNvSpPr/>
          <p:nvPr/>
        </p:nvSpPr>
        <p:spPr>
          <a:xfrm>
            <a:off x="0" y="0"/>
            <a:ext cx="88560" cy="6857640"/>
          </a:xfrm>
          <a:prstGeom prst="rect">
            <a:avLst/>
          </a:prstGeom>
          <a:solidFill>
            <a:srgbClr val="5b21b6"/>
          </a:solidFill>
          <a:ln w="9360">
            <a:noFill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05" name="TextBox 2"/>
          <p:cNvSpPr/>
          <p:nvPr/>
        </p:nvSpPr>
        <p:spPr>
          <a:xfrm>
            <a:off x="502920" y="201240"/>
            <a:ext cx="3657240" cy="153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000" strike="noStrike" u="none">
                <a:solidFill>
                  <a:srgbClr val="5b21b6"/>
                </a:solidFill>
                <a:effectLst/>
                <a:uFillTx/>
                <a:latin typeface="Aptos"/>
              </a:rPr>
              <a:t>IMPLEMENTAÇÃO</a:t>
            </a:r>
            <a:endParaRPr b="0" lang="en-US" sz="1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6" name="TextBox 3"/>
          <p:cNvSpPr/>
          <p:nvPr/>
        </p:nvSpPr>
        <p:spPr>
          <a:xfrm>
            <a:off x="10287000" y="182880"/>
            <a:ext cx="1096920" cy="13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r" defTabSz="457200">
              <a:lnSpc>
                <a:spcPct val="100000"/>
              </a:lnSpc>
            </a:pPr>
            <a:r>
              <a:rPr b="1" lang="en-US" sz="900" strike="noStrike" u="none">
                <a:solidFill>
                  <a:srgbClr val="666e7d"/>
                </a:solidFill>
                <a:effectLst/>
                <a:uFillTx/>
                <a:latin typeface="Aptos"/>
              </a:rPr>
              <a:t>AI-901 • EP 3</a:t>
            </a:r>
            <a:endParaRPr b="0" lang="en-US" sz="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7" name="TextBox 4"/>
          <p:cNvSpPr/>
          <p:nvPr/>
        </p:nvSpPr>
        <p:spPr>
          <a:xfrm>
            <a:off x="502920" y="567000"/>
            <a:ext cx="10698120" cy="427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2800" strike="noStrike" u="none">
                <a:solidFill>
                  <a:srgbClr val="1f2937"/>
                </a:solidFill>
                <a:effectLst/>
                <a:uFillTx/>
                <a:latin typeface="Aptos"/>
              </a:rPr>
              <a:t>Aplicação leve com fala</a:t>
            </a:r>
            <a:endParaRPr b="0" lang="en-US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8" name="TextBox 5"/>
          <p:cNvSpPr/>
          <p:nvPr/>
        </p:nvSpPr>
        <p:spPr>
          <a:xfrm>
            <a:off x="731520" y="1508760"/>
            <a:ext cx="4845960" cy="244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600" strike="noStrike" u="none">
                <a:solidFill>
                  <a:srgbClr val="0284c7"/>
                </a:solidFill>
                <a:effectLst/>
                <a:uFillTx/>
                <a:latin typeface="Aptos"/>
              </a:rPr>
              <a:t>Caminho 1 — Azure Speech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9" name="Rounded Rectangle 6"/>
          <p:cNvSpPr/>
          <p:nvPr/>
        </p:nvSpPr>
        <p:spPr>
          <a:xfrm>
            <a:off x="731520" y="2057400"/>
            <a:ext cx="1462680" cy="100548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600">
            <a:solidFill>
              <a:srgbClr val="d1d5db"/>
            </a:solidFill>
            <a:round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10" name="TextBox 7"/>
          <p:cNvSpPr/>
          <p:nvPr/>
        </p:nvSpPr>
        <p:spPr>
          <a:xfrm>
            <a:off x="731520" y="2453040"/>
            <a:ext cx="1462680" cy="214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 algn="ctr" defTabSz="457200">
              <a:lnSpc>
                <a:spcPct val="100000"/>
              </a:lnSpc>
            </a:pPr>
            <a:r>
              <a:rPr b="1" lang="en-US" sz="1400" strike="noStrike" u="none">
                <a:solidFill>
                  <a:srgbClr val="0284c7"/>
                </a:solidFill>
                <a:effectLst/>
                <a:uFillTx/>
                <a:latin typeface="Aptos"/>
              </a:rPr>
              <a:t>Microfone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311" name="Connector 8"/>
          <p:cNvCxnSpPr/>
          <p:nvPr/>
        </p:nvCxnSpPr>
        <p:spPr>
          <a:xfrm>
            <a:off x="2212560" y="2560320"/>
            <a:ext cx="274680" cy="360"/>
          </a:xfrm>
          <a:prstGeom prst="straightConnector1">
            <a:avLst/>
          </a:prstGeom>
          <a:ln w="23040">
            <a:solidFill>
              <a:srgbClr val="5b21b6"/>
            </a:solidFill>
            <a:round/>
          </a:ln>
        </p:spPr>
      </p:cxnSp>
      <p:sp>
        <p:nvSpPr>
          <p:cNvPr id="312" name="Rounded Rectangle 9"/>
          <p:cNvSpPr/>
          <p:nvPr/>
        </p:nvSpPr>
        <p:spPr>
          <a:xfrm>
            <a:off x="2514600" y="2057400"/>
            <a:ext cx="1462680" cy="100548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600">
            <a:solidFill>
              <a:srgbClr val="d1d5db"/>
            </a:solidFill>
            <a:round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13" name="TextBox 10"/>
          <p:cNvSpPr/>
          <p:nvPr/>
        </p:nvSpPr>
        <p:spPr>
          <a:xfrm>
            <a:off x="2514600" y="2453040"/>
            <a:ext cx="1462680" cy="214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 algn="ctr" defTabSz="457200">
              <a:lnSpc>
                <a:spcPct val="100000"/>
              </a:lnSpc>
            </a:pPr>
            <a:r>
              <a:rPr b="1" lang="en-US" sz="1400" strike="noStrike" u="none">
                <a:solidFill>
                  <a:srgbClr val="5b21b6"/>
                </a:solidFill>
                <a:effectLst/>
                <a:uFillTx/>
                <a:latin typeface="Aptos"/>
              </a:rPr>
              <a:t>Speech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314" name="Connector 11"/>
          <p:cNvCxnSpPr/>
          <p:nvPr/>
        </p:nvCxnSpPr>
        <p:spPr>
          <a:xfrm>
            <a:off x="3995640" y="2560320"/>
            <a:ext cx="274680" cy="360"/>
          </a:xfrm>
          <a:prstGeom prst="straightConnector1">
            <a:avLst/>
          </a:prstGeom>
          <a:ln w="23040">
            <a:solidFill>
              <a:srgbClr val="5b21b6"/>
            </a:solidFill>
            <a:round/>
          </a:ln>
        </p:spPr>
      </p:cxnSp>
      <p:sp>
        <p:nvSpPr>
          <p:cNvPr id="315" name="Rounded Rectangle 12"/>
          <p:cNvSpPr/>
          <p:nvPr/>
        </p:nvSpPr>
        <p:spPr>
          <a:xfrm>
            <a:off x="4297680" y="2057400"/>
            <a:ext cx="1462680" cy="100548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600">
            <a:solidFill>
              <a:srgbClr val="d1d5db"/>
            </a:solidFill>
            <a:round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16" name="TextBox 13"/>
          <p:cNvSpPr/>
          <p:nvPr/>
        </p:nvSpPr>
        <p:spPr>
          <a:xfrm>
            <a:off x="4297680" y="2453040"/>
            <a:ext cx="1462680" cy="214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 algn="ctr" defTabSz="457200">
              <a:lnSpc>
                <a:spcPct val="100000"/>
              </a:lnSpc>
            </a:pPr>
            <a:r>
              <a:rPr b="1" lang="en-US" sz="1400" strike="noStrike" u="none">
                <a:solidFill>
                  <a:srgbClr val="059669"/>
                </a:solidFill>
                <a:effectLst/>
                <a:uFillTx/>
                <a:latin typeface="Aptos"/>
              </a:rPr>
              <a:t>Texto/Áudio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7" name="TextBox 14"/>
          <p:cNvSpPr/>
          <p:nvPr/>
        </p:nvSpPr>
        <p:spPr>
          <a:xfrm>
            <a:off x="6172200" y="1508760"/>
            <a:ext cx="4845960" cy="244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600" strike="noStrike" u="none">
                <a:solidFill>
                  <a:srgbClr val="5b21b6"/>
                </a:solidFill>
                <a:effectLst/>
                <a:uFillTx/>
                <a:latin typeface="Aptos"/>
              </a:rPr>
              <a:t>Caminho 2 — Modelo multimodal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8" name="Rounded Rectangle 15"/>
          <p:cNvSpPr/>
          <p:nvPr/>
        </p:nvSpPr>
        <p:spPr>
          <a:xfrm>
            <a:off x="6172200" y="2057400"/>
            <a:ext cx="1416960" cy="100548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600">
            <a:solidFill>
              <a:srgbClr val="d1d5db"/>
            </a:solidFill>
            <a:round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19" name="TextBox 16"/>
          <p:cNvSpPr/>
          <p:nvPr/>
        </p:nvSpPr>
        <p:spPr>
          <a:xfrm>
            <a:off x="6172200" y="2453040"/>
            <a:ext cx="1416960" cy="214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 algn="ctr" defTabSz="457200">
              <a:lnSpc>
                <a:spcPct val="100000"/>
              </a:lnSpc>
            </a:pPr>
            <a:r>
              <a:rPr b="1" lang="en-US" sz="1400" strike="noStrike" u="none">
                <a:solidFill>
                  <a:srgbClr val="0284c7"/>
                </a:solidFill>
                <a:effectLst/>
                <a:uFillTx/>
                <a:latin typeface="Aptos"/>
              </a:rPr>
              <a:t>Voz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320" name="Connector 17"/>
          <p:cNvCxnSpPr/>
          <p:nvPr/>
        </p:nvCxnSpPr>
        <p:spPr>
          <a:xfrm>
            <a:off x="7607520" y="2560320"/>
            <a:ext cx="228960" cy="360"/>
          </a:xfrm>
          <a:prstGeom prst="straightConnector1">
            <a:avLst/>
          </a:prstGeom>
          <a:ln w="23040">
            <a:solidFill>
              <a:srgbClr val="5b21b6"/>
            </a:solidFill>
            <a:round/>
          </a:ln>
        </p:spPr>
      </p:cxnSp>
      <p:sp>
        <p:nvSpPr>
          <p:cNvPr id="321" name="Rounded Rectangle 18"/>
          <p:cNvSpPr/>
          <p:nvPr/>
        </p:nvSpPr>
        <p:spPr>
          <a:xfrm>
            <a:off x="7863840" y="2057400"/>
            <a:ext cx="1416960" cy="100548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600">
            <a:solidFill>
              <a:srgbClr val="d1d5db"/>
            </a:solidFill>
            <a:round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22" name="TextBox 19"/>
          <p:cNvSpPr/>
          <p:nvPr/>
        </p:nvSpPr>
        <p:spPr>
          <a:xfrm>
            <a:off x="7863840" y="2453040"/>
            <a:ext cx="1416960" cy="214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 algn="ctr" defTabSz="457200">
              <a:lnSpc>
                <a:spcPct val="100000"/>
              </a:lnSpc>
            </a:pPr>
            <a:r>
              <a:rPr b="1" lang="en-US" sz="1400" strike="noStrike" u="none">
                <a:solidFill>
                  <a:srgbClr val="5b21b6"/>
                </a:solidFill>
                <a:effectLst/>
                <a:uFillTx/>
                <a:latin typeface="Aptos"/>
              </a:rPr>
              <a:t>Modelo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323" name="Connector 20"/>
          <p:cNvCxnSpPr/>
          <p:nvPr/>
        </p:nvCxnSpPr>
        <p:spPr>
          <a:xfrm>
            <a:off x="9299160" y="2560320"/>
            <a:ext cx="228960" cy="360"/>
          </a:xfrm>
          <a:prstGeom prst="straightConnector1">
            <a:avLst/>
          </a:prstGeom>
          <a:ln w="23040">
            <a:solidFill>
              <a:srgbClr val="5b21b6"/>
            </a:solidFill>
            <a:round/>
          </a:ln>
        </p:spPr>
      </p:cxnSp>
      <p:sp>
        <p:nvSpPr>
          <p:cNvPr id="324" name="Rounded Rectangle 21"/>
          <p:cNvSpPr/>
          <p:nvPr/>
        </p:nvSpPr>
        <p:spPr>
          <a:xfrm>
            <a:off x="9555480" y="2057400"/>
            <a:ext cx="1416960" cy="100548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600">
            <a:solidFill>
              <a:srgbClr val="d1d5db"/>
            </a:solidFill>
            <a:round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25" name="TextBox 22"/>
          <p:cNvSpPr/>
          <p:nvPr/>
        </p:nvSpPr>
        <p:spPr>
          <a:xfrm>
            <a:off x="9555480" y="2453040"/>
            <a:ext cx="1416960" cy="214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 algn="ctr" defTabSz="457200">
              <a:lnSpc>
                <a:spcPct val="100000"/>
              </a:lnSpc>
            </a:pPr>
            <a:r>
              <a:rPr b="1" lang="en-US" sz="1400" strike="noStrike" u="none">
                <a:solidFill>
                  <a:srgbClr val="059669"/>
                </a:solidFill>
                <a:effectLst/>
                <a:uFillTx/>
                <a:latin typeface="Aptos"/>
              </a:rPr>
              <a:t>Resposta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6" name="Rounded Rectangle 23"/>
          <p:cNvSpPr/>
          <p:nvPr/>
        </p:nvSpPr>
        <p:spPr>
          <a:xfrm>
            <a:off x="1645920" y="4069080"/>
            <a:ext cx="8777880" cy="731160"/>
          </a:xfrm>
          <a:prstGeom prst="roundRect">
            <a:avLst>
              <a:gd name="adj" fmla="val 16667"/>
            </a:avLst>
          </a:prstGeom>
          <a:solidFill>
            <a:srgbClr val="ede9fe"/>
          </a:solidFill>
          <a:ln w="9360">
            <a:solidFill>
              <a:srgbClr val="ede9fe"/>
            </a:solidFill>
            <a:round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27" name="TextBox 24"/>
          <p:cNvSpPr/>
          <p:nvPr/>
        </p:nvSpPr>
        <p:spPr>
          <a:xfrm>
            <a:off x="1645920" y="4312440"/>
            <a:ext cx="8777880" cy="244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 algn="ctr" defTabSz="457200">
              <a:lnSpc>
                <a:spcPct val="100000"/>
              </a:lnSpc>
            </a:pPr>
            <a:r>
              <a:rPr b="1" lang="en-US" sz="1600" strike="noStrike" u="none">
                <a:solidFill>
                  <a:srgbClr val="5b21b6"/>
                </a:solidFill>
                <a:effectLst/>
                <a:uFillTx/>
                <a:latin typeface="Aptos"/>
              </a:rPr>
              <a:t>Na prova, procure a pista: capacidade especializada de fala ou interação multimodal?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8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8" name="Rectangle 1"/>
          <p:cNvSpPr/>
          <p:nvPr/>
        </p:nvSpPr>
        <p:spPr>
          <a:xfrm>
            <a:off x="0" y="0"/>
            <a:ext cx="88560" cy="6857640"/>
          </a:xfrm>
          <a:prstGeom prst="rect">
            <a:avLst/>
          </a:prstGeom>
          <a:solidFill>
            <a:srgbClr val="5b21b6"/>
          </a:solidFill>
          <a:ln w="9360">
            <a:noFill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29" name="TextBox 2"/>
          <p:cNvSpPr/>
          <p:nvPr/>
        </p:nvSpPr>
        <p:spPr>
          <a:xfrm>
            <a:off x="502920" y="201240"/>
            <a:ext cx="3657240" cy="153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000" strike="noStrike" u="none">
                <a:solidFill>
                  <a:srgbClr val="5b21b6"/>
                </a:solidFill>
                <a:effectLst/>
                <a:uFillTx/>
                <a:latin typeface="Aptos"/>
              </a:rPr>
              <a:t>QUESTÃO RÁPIDA</a:t>
            </a:r>
            <a:endParaRPr b="0" lang="en-US" sz="1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0" name="TextBox 3"/>
          <p:cNvSpPr/>
          <p:nvPr/>
        </p:nvSpPr>
        <p:spPr>
          <a:xfrm>
            <a:off x="10287000" y="182880"/>
            <a:ext cx="1096920" cy="13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r" defTabSz="457200">
              <a:lnSpc>
                <a:spcPct val="100000"/>
              </a:lnSpc>
            </a:pPr>
            <a:r>
              <a:rPr b="1" lang="en-US" sz="900" strike="noStrike" u="none">
                <a:solidFill>
                  <a:srgbClr val="666e7d"/>
                </a:solidFill>
                <a:effectLst/>
                <a:uFillTx/>
                <a:latin typeface="Aptos"/>
              </a:rPr>
              <a:t>AI-901 • EP 3</a:t>
            </a:r>
            <a:endParaRPr b="0" lang="en-US" sz="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1" name="TextBox 4"/>
          <p:cNvSpPr/>
          <p:nvPr/>
        </p:nvSpPr>
        <p:spPr>
          <a:xfrm>
            <a:off x="502920" y="567000"/>
            <a:ext cx="10698120" cy="427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2800" strike="noStrike" u="none">
                <a:solidFill>
                  <a:srgbClr val="1f2937"/>
                </a:solidFill>
                <a:effectLst/>
                <a:uFillTx/>
                <a:latin typeface="Aptos"/>
              </a:rPr>
              <a:t>Qual técnica faz mais sentido?</a:t>
            </a:r>
            <a:endParaRPr b="0" lang="en-US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2" name="TextBox 5"/>
          <p:cNvSpPr/>
          <p:nvPr/>
        </p:nvSpPr>
        <p:spPr>
          <a:xfrm>
            <a:off x="777240" y="1600200"/>
            <a:ext cx="10058040" cy="610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2000" strike="noStrike" u="none">
                <a:solidFill>
                  <a:srgbClr val="1f2937"/>
                </a:solidFill>
                <a:effectLst/>
                <a:uFillTx/>
                <a:latin typeface="Aptos"/>
              </a:rPr>
              <a:t>Uma empresa quer identificar automaticamente nomes de pessoas, empresas e cidades em avaliações de clientes.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3" name="Rounded Rectangle 6"/>
          <p:cNvSpPr/>
          <p:nvPr/>
        </p:nvSpPr>
        <p:spPr>
          <a:xfrm>
            <a:off x="914400" y="2743200"/>
            <a:ext cx="4708800" cy="82260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600">
            <a:solidFill>
              <a:srgbClr val="d1d5db"/>
            </a:solidFill>
            <a:round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34" name="Rounded Rectangle 7"/>
          <p:cNvSpPr/>
          <p:nvPr/>
        </p:nvSpPr>
        <p:spPr>
          <a:xfrm>
            <a:off x="1078920" y="2898720"/>
            <a:ext cx="438480" cy="475200"/>
          </a:xfrm>
          <a:prstGeom prst="roundRect">
            <a:avLst>
              <a:gd name="adj" fmla="val 16667"/>
            </a:avLst>
          </a:prstGeom>
          <a:solidFill>
            <a:srgbClr val="ede9fe"/>
          </a:solidFill>
          <a:ln w="9360">
            <a:solidFill>
              <a:srgbClr val="ede9fe"/>
            </a:solidFill>
            <a:round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35" name="TextBox 8"/>
          <p:cNvSpPr/>
          <p:nvPr/>
        </p:nvSpPr>
        <p:spPr>
          <a:xfrm>
            <a:off x="1078920" y="3036600"/>
            <a:ext cx="438480" cy="199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 algn="ctr" defTabSz="457200">
              <a:lnSpc>
                <a:spcPct val="100000"/>
              </a:lnSpc>
            </a:pPr>
            <a:r>
              <a:rPr b="1" lang="en-US" sz="1300" strike="noStrike" u="none">
                <a:solidFill>
                  <a:srgbClr val="5b21b6"/>
                </a:solidFill>
                <a:effectLst/>
                <a:uFillTx/>
                <a:latin typeface="Aptos"/>
              </a:rPr>
              <a:t>A</a:t>
            </a:r>
            <a:endParaRPr b="0" lang="en-US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6" name="TextBox 9"/>
          <p:cNvSpPr/>
          <p:nvPr/>
        </p:nvSpPr>
        <p:spPr>
          <a:xfrm>
            <a:off x="1664280" y="3039840"/>
            <a:ext cx="3748680" cy="22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500" strike="noStrike" u="none">
                <a:solidFill>
                  <a:srgbClr val="1f2937"/>
                </a:solidFill>
                <a:effectLst/>
                <a:uFillTx/>
                <a:latin typeface="Aptos"/>
              </a:rPr>
              <a:t>Análise de sentimento</a:t>
            </a:r>
            <a:endParaRPr b="0" lang="en-US" sz="1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7" name="Rounded Rectangle 10"/>
          <p:cNvSpPr/>
          <p:nvPr/>
        </p:nvSpPr>
        <p:spPr>
          <a:xfrm>
            <a:off x="6217920" y="2743200"/>
            <a:ext cx="4708800" cy="82260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600">
            <a:solidFill>
              <a:srgbClr val="d1d5db"/>
            </a:solidFill>
            <a:round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38" name="Rounded Rectangle 11"/>
          <p:cNvSpPr/>
          <p:nvPr/>
        </p:nvSpPr>
        <p:spPr>
          <a:xfrm>
            <a:off x="6382440" y="2898720"/>
            <a:ext cx="438480" cy="475200"/>
          </a:xfrm>
          <a:prstGeom prst="roundRect">
            <a:avLst>
              <a:gd name="adj" fmla="val 16667"/>
            </a:avLst>
          </a:prstGeom>
          <a:solidFill>
            <a:srgbClr val="ede9fe"/>
          </a:solidFill>
          <a:ln w="9360">
            <a:solidFill>
              <a:srgbClr val="ede9fe"/>
            </a:solidFill>
            <a:round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39" name="TextBox 12"/>
          <p:cNvSpPr/>
          <p:nvPr/>
        </p:nvSpPr>
        <p:spPr>
          <a:xfrm>
            <a:off x="6382440" y="3036600"/>
            <a:ext cx="438480" cy="199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 algn="ctr" defTabSz="457200">
              <a:lnSpc>
                <a:spcPct val="100000"/>
              </a:lnSpc>
            </a:pPr>
            <a:r>
              <a:rPr b="1" lang="en-US" sz="1300" strike="noStrike" u="none">
                <a:solidFill>
                  <a:srgbClr val="5b21b6"/>
                </a:solidFill>
                <a:effectLst/>
                <a:uFillTx/>
                <a:latin typeface="Aptos"/>
              </a:rPr>
              <a:t>B</a:t>
            </a:r>
            <a:endParaRPr b="0" lang="en-US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0" name="TextBox 13"/>
          <p:cNvSpPr/>
          <p:nvPr/>
        </p:nvSpPr>
        <p:spPr>
          <a:xfrm>
            <a:off x="6967800" y="3039840"/>
            <a:ext cx="3748680" cy="22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500" strike="noStrike" u="none">
                <a:solidFill>
                  <a:srgbClr val="1f2937"/>
                </a:solidFill>
                <a:effectLst/>
                <a:uFillTx/>
                <a:latin typeface="Aptos"/>
              </a:rPr>
              <a:t>Detecção de entidades</a:t>
            </a:r>
            <a:endParaRPr b="0" lang="en-US" sz="1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1" name="Rounded Rectangle 14"/>
          <p:cNvSpPr/>
          <p:nvPr/>
        </p:nvSpPr>
        <p:spPr>
          <a:xfrm>
            <a:off x="914400" y="3886200"/>
            <a:ext cx="4708800" cy="82260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600">
            <a:solidFill>
              <a:srgbClr val="d1d5db"/>
            </a:solidFill>
            <a:round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42" name="Rounded Rectangle 15"/>
          <p:cNvSpPr/>
          <p:nvPr/>
        </p:nvSpPr>
        <p:spPr>
          <a:xfrm>
            <a:off x="1078920" y="4041720"/>
            <a:ext cx="438480" cy="475200"/>
          </a:xfrm>
          <a:prstGeom prst="roundRect">
            <a:avLst>
              <a:gd name="adj" fmla="val 16667"/>
            </a:avLst>
          </a:prstGeom>
          <a:solidFill>
            <a:srgbClr val="ede9fe"/>
          </a:solidFill>
          <a:ln w="9360">
            <a:solidFill>
              <a:srgbClr val="ede9fe"/>
            </a:solidFill>
            <a:round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43" name="TextBox 16"/>
          <p:cNvSpPr/>
          <p:nvPr/>
        </p:nvSpPr>
        <p:spPr>
          <a:xfrm>
            <a:off x="1078920" y="4179600"/>
            <a:ext cx="438480" cy="199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 algn="ctr" defTabSz="457200">
              <a:lnSpc>
                <a:spcPct val="100000"/>
              </a:lnSpc>
            </a:pPr>
            <a:r>
              <a:rPr b="1" lang="en-US" sz="1300" strike="noStrike" u="none">
                <a:solidFill>
                  <a:srgbClr val="5b21b6"/>
                </a:solidFill>
                <a:effectLst/>
                <a:uFillTx/>
                <a:latin typeface="Aptos"/>
              </a:rPr>
              <a:t>C</a:t>
            </a:r>
            <a:endParaRPr b="0" lang="en-US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4" name="TextBox 17"/>
          <p:cNvSpPr/>
          <p:nvPr/>
        </p:nvSpPr>
        <p:spPr>
          <a:xfrm>
            <a:off x="1664280" y="4182840"/>
            <a:ext cx="3748680" cy="22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500" strike="noStrike" u="none">
                <a:solidFill>
                  <a:srgbClr val="1f2937"/>
                </a:solidFill>
                <a:effectLst/>
                <a:uFillTx/>
                <a:latin typeface="Aptos"/>
              </a:rPr>
              <a:t>Síntese de fala</a:t>
            </a:r>
            <a:endParaRPr b="0" lang="en-US" sz="1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5" name="Rounded Rectangle 18"/>
          <p:cNvSpPr/>
          <p:nvPr/>
        </p:nvSpPr>
        <p:spPr>
          <a:xfrm>
            <a:off x="6217920" y="3886200"/>
            <a:ext cx="4708800" cy="82260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600">
            <a:solidFill>
              <a:srgbClr val="d1d5db"/>
            </a:solidFill>
            <a:round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46" name="Rounded Rectangle 19"/>
          <p:cNvSpPr/>
          <p:nvPr/>
        </p:nvSpPr>
        <p:spPr>
          <a:xfrm>
            <a:off x="6382440" y="4041720"/>
            <a:ext cx="438480" cy="475200"/>
          </a:xfrm>
          <a:prstGeom prst="roundRect">
            <a:avLst>
              <a:gd name="adj" fmla="val 16667"/>
            </a:avLst>
          </a:prstGeom>
          <a:solidFill>
            <a:srgbClr val="ede9fe"/>
          </a:solidFill>
          <a:ln w="9360">
            <a:solidFill>
              <a:srgbClr val="ede9fe"/>
            </a:solidFill>
            <a:round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47" name="TextBox 20"/>
          <p:cNvSpPr/>
          <p:nvPr/>
        </p:nvSpPr>
        <p:spPr>
          <a:xfrm>
            <a:off x="6382440" y="4179600"/>
            <a:ext cx="438480" cy="199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 algn="ctr" defTabSz="457200">
              <a:lnSpc>
                <a:spcPct val="100000"/>
              </a:lnSpc>
            </a:pPr>
            <a:r>
              <a:rPr b="1" lang="en-US" sz="1300" strike="noStrike" u="none">
                <a:solidFill>
                  <a:srgbClr val="5b21b6"/>
                </a:solidFill>
                <a:effectLst/>
                <a:uFillTx/>
                <a:latin typeface="Aptos"/>
              </a:rPr>
              <a:t>D</a:t>
            </a:r>
            <a:endParaRPr b="0" lang="en-US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8" name="TextBox 21"/>
          <p:cNvSpPr/>
          <p:nvPr/>
        </p:nvSpPr>
        <p:spPr>
          <a:xfrm>
            <a:off x="6967800" y="4182840"/>
            <a:ext cx="3748680" cy="22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500" strike="noStrike" u="none">
                <a:solidFill>
                  <a:srgbClr val="1f2937"/>
                </a:solidFill>
                <a:effectLst/>
                <a:uFillTx/>
                <a:latin typeface="Aptos"/>
              </a:rPr>
              <a:t>Geração de imagem</a:t>
            </a:r>
            <a:endParaRPr b="0" lang="en-US" sz="1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9" name="Rounded Rectangle 22"/>
          <p:cNvSpPr/>
          <p:nvPr/>
        </p:nvSpPr>
        <p:spPr>
          <a:xfrm>
            <a:off x="3246120" y="5257800"/>
            <a:ext cx="5668920" cy="566640"/>
          </a:xfrm>
          <a:prstGeom prst="roundRect">
            <a:avLst>
              <a:gd name="adj" fmla="val 16667"/>
            </a:avLst>
          </a:prstGeom>
          <a:solidFill>
            <a:srgbClr val="ecfdf5"/>
          </a:solidFill>
          <a:ln w="9360">
            <a:solidFill>
              <a:srgbClr val="ecfdf5"/>
            </a:solidFill>
            <a:round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50" name="TextBox 23"/>
          <p:cNvSpPr/>
          <p:nvPr/>
        </p:nvSpPr>
        <p:spPr>
          <a:xfrm>
            <a:off x="3246120" y="5433840"/>
            <a:ext cx="5668920" cy="214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 algn="ctr" defTabSz="457200">
              <a:lnSpc>
                <a:spcPct val="100000"/>
              </a:lnSpc>
            </a:pPr>
            <a:r>
              <a:rPr b="1" lang="en-US" sz="1400" strike="noStrike" u="none">
                <a:solidFill>
                  <a:srgbClr val="059669"/>
                </a:solidFill>
                <a:effectLst/>
                <a:uFillTx/>
                <a:latin typeface="Aptos"/>
              </a:rPr>
              <a:t>Resposta: B — nomes, empresas e cidades são entidades.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8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1" name="Rectangle 1"/>
          <p:cNvSpPr/>
          <p:nvPr/>
        </p:nvSpPr>
        <p:spPr>
          <a:xfrm>
            <a:off x="0" y="0"/>
            <a:ext cx="88560" cy="6857640"/>
          </a:xfrm>
          <a:prstGeom prst="rect">
            <a:avLst/>
          </a:prstGeom>
          <a:solidFill>
            <a:srgbClr val="5b21b6"/>
          </a:solidFill>
          <a:ln w="9360">
            <a:noFill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52" name="TextBox 2"/>
          <p:cNvSpPr/>
          <p:nvPr/>
        </p:nvSpPr>
        <p:spPr>
          <a:xfrm>
            <a:off x="502920" y="201240"/>
            <a:ext cx="3657240" cy="153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000" strike="noStrike" u="none">
                <a:solidFill>
                  <a:srgbClr val="5b21b6"/>
                </a:solidFill>
                <a:effectLst/>
                <a:uFillTx/>
                <a:latin typeface="Aptos"/>
              </a:rPr>
              <a:t>QUESTÃO RÁPIDA</a:t>
            </a:r>
            <a:endParaRPr b="0" lang="en-US" sz="1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3" name="TextBox 3"/>
          <p:cNvSpPr/>
          <p:nvPr/>
        </p:nvSpPr>
        <p:spPr>
          <a:xfrm>
            <a:off x="10287000" y="182880"/>
            <a:ext cx="1096920" cy="13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r" defTabSz="457200">
              <a:lnSpc>
                <a:spcPct val="100000"/>
              </a:lnSpc>
            </a:pPr>
            <a:r>
              <a:rPr b="1" lang="en-US" sz="900" strike="noStrike" u="none">
                <a:solidFill>
                  <a:srgbClr val="666e7d"/>
                </a:solidFill>
                <a:effectLst/>
                <a:uFillTx/>
                <a:latin typeface="Aptos"/>
              </a:rPr>
              <a:t>AI-901 • EP 3</a:t>
            </a:r>
            <a:endParaRPr b="0" lang="en-US" sz="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4" name="TextBox 4"/>
          <p:cNvSpPr/>
          <p:nvPr/>
        </p:nvSpPr>
        <p:spPr>
          <a:xfrm>
            <a:off x="502920" y="567000"/>
            <a:ext cx="10698120" cy="427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2800" strike="noStrike" u="none">
                <a:solidFill>
                  <a:srgbClr val="1f2937"/>
                </a:solidFill>
                <a:effectLst/>
                <a:uFillTx/>
                <a:latin typeface="Aptos"/>
              </a:rPr>
              <a:t>Reconhecimento ou síntese?</a:t>
            </a:r>
            <a:endParaRPr b="0" lang="en-US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5" name="TextBox 5"/>
          <p:cNvSpPr/>
          <p:nvPr/>
        </p:nvSpPr>
        <p:spPr>
          <a:xfrm>
            <a:off x="777240" y="1600200"/>
            <a:ext cx="10058040" cy="610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2000" strike="noStrike" u="none">
                <a:solidFill>
                  <a:srgbClr val="1f2937"/>
                </a:solidFill>
                <a:effectLst/>
                <a:uFillTx/>
                <a:latin typeface="Aptos"/>
              </a:rPr>
              <a:t>Um aplicativo precisa transformar a mensagem “Sua consulta está confirmada” em uma resposta falada para o usuário.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6" name="Rounded Rectangle 6"/>
          <p:cNvSpPr/>
          <p:nvPr/>
        </p:nvSpPr>
        <p:spPr>
          <a:xfrm>
            <a:off x="1143000" y="2788920"/>
            <a:ext cx="4205880" cy="150840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600">
            <a:solidFill>
              <a:srgbClr val="d1d5db"/>
            </a:solidFill>
            <a:round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57" name="TextBox 7"/>
          <p:cNvSpPr/>
          <p:nvPr/>
        </p:nvSpPr>
        <p:spPr>
          <a:xfrm>
            <a:off x="1398960" y="2944440"/>
            <a:ext cx="3693960" cy="27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800" strike="noStrike" u="none">
                <a:solidFill>
                  <a:srgbClr val="1f2937"/>
                </a:solidFill>
                <a:effectLst/>
                <a:uFillTx/>
                <a:latin typeface="Aptos"/>
              </a:rPr>
              <a:t>A • Speech to Text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8" name="TextBox 8"/>
          <p:cNvSpPr/>
          <p:nvPr/>
        </p:nvSpPr>
        <p:spPr>
          <a:xfrm>
            <a:off x="1398960" y="3355920"/>
            <a:ext cx="3693960" cy="213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400" strike="noStrike" u="none">
                <a:solidFill>
                  <a:srgbClr val="666e7d"/>
                </a:solidFill>
                <a:effectLst/>
                <a:uFillTx/>
                <a:latin typeface="Aptos"/>
              </a:rPr>
              <a:t>Transformar fala em texto.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9" name="Rounded Rectangle 9"/>
          <p:cNvSpPr/>
          <p:nvPr/>
        </p:nvSpPr>
        <p:spPr>
          <a:xfrm>
            <a:off x="6537960" y="2788920"/>
            <a:ext cx="4205880" cy="150840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600">
            <a:solidFill>
              <a:srgbClr val="d1d5db"/>
            </a:solidFill>
            <a:round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60" name="TextBox 10"/>
          <p:cNvSpPr/>
          <p:nvPr/>
        </p:nvSpPr>
        <p:spPr>
          <a:xfrm>
            <a:off x="6793920" y="2944440"/>
            <a:ext cx="3693960" cy="27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800" strike="noStrike" u="none">
                <a:solidFill>
                  <a:srgbClr val="1f2937"/>
                </a:solidFill>
                <a:effectLst/>
                <a:uFillTx/>
                <a:latin typeface="Aptos"/>
              </a:rPr>
              <a:t>B • Text to Speech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1" name="TextBox 11"/>
          <p:cNvSpPr/>
          <p:nvPr/>
        </p:nvSpPr>
        <p:spPr>
          <a:xfrm>
            <a:off x="6793920" y="3355920"/>
            <a:ext cx="3693960" cy="213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400" strike="noStrike" u="none">
                <a:solidFill>
                  <a:srgbClr val="666e7d"/>
                </a:solidFill>
                <a:effectLst/>
                <a:uFillTx/>
                <a:latin typeface="Aptos"/>
              </a:rPr>
              <a:t>Transformar texto em fala.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2" name="Rounded Rectangle 12"/>
          <p:cNvSpPr/>
          <p:nvPr/>
        </p:nvSpPr>
        <p:spPr>
          <a:xfrm>
            <a:off x="3337560" y="4892040"/>
            <a:ext cx="5486040" cy="566640"/>
          </a:xfrm>
          <a:prstGeom prst="roundRect">
            <a:avLst>
              <a:gd name="adj" fmla="val 16667"/>
            </a:avLst>
          </a:prstGeom>
          <a:solidFill>
            <a:srgbClr val="ecfdf5"/>
          </a:solidFill>
          <a:ln w="9360">
            <a:solidFill>
              <a:srgbClr val="ecfdf5"/>
            </a:solidFill>
            <a:round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63" name="TextBox 13"/>
          <p:cNvSpPr/>
          <p:nvPr/>
        </p:nvSpPr>
        <p:spPr>
          <a:xfrm>
            <a:off x="3337560" y="5068080"/>
            <a:ext cx="5486040" cy="214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 algn="ctr" defTabSz="457200">
              <a:lnSpc>
                <a:spcPct val="100000"/>
              </a:lnSpc>
            </a:pPr>
            <a:r>
              <a:rPr b="1" lang="en-US" sz="1400" strike="noStrike" u="none">
                <a:solidFill>
                  <a:srgbClr val="059669"/>
                </a:solidFill>
                <a:effectLst/>
                <a:uFillTx/>
                <a:latin typeface="Aptos"/>
              </a:rPr>
              <a:t>Resposta: B — o texto precisa virar voz.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8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4" name="Rectangle 1"/>
          <p:cNvSpPr/>
          <p:nvPr/>
        </p:nvSpPr>
        <p:spPr>
          <a:xfrm>
            <a:off x="0" y="0"/>
            <a:ext cx="88560" cy="6857640"/>
          </a:xfrm>
          <a:prstGeom prst="rect">
            <a:avLst/>
          </a:prstGeom>
          <a:solidFill>
            <a:srgbClr val="5b21b6"/>
          </a:solidFill>
          <a:ln w="9360">
            <a:noFill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65" name="TextBox 2"/>
          <p:cNvSpPr/>
          <p:nvPr/>
        </p:nvSpPr>
        <p:spPr>
          <a:xfrm>
            <a:off x="502920" y="201240"/>
            <a:ext cx="3657240" cy="153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000" strike="noStrike" u="none">
                <a:solidFill>
                  <a:srgbClr val="5b21b6"/>
                </a:solidFill>
                <a:effectLst/>
                <a:uFillTx/>
                <a:latin typeface="Aptos"/>
              </a:rPr>
              <a:t>FECHAMENTO</a:t>
            </a:r>
            <a:endParaRPr b="0" lang="en-US" sz="1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6" name="TextBox 3"/>
          <p:cNvSpPr/>
          <p:nvPr/>
        </p:nvSpPr>
        <p:spPr>
          <a:xfrm>
            <a:off x="10287000" y="182880"/>
            <a:ext cx="1096920" cy="13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r" defTabSz="457200">
              <a:lnSpc>
                <a:spcPct val="100000"/>
              </a:lnSpc>
            </a:pPr>
            <a:r>
              <a:rPr b="1" lang="en-US" sz="900" strike="noStrike" u="none">
                <a:solidFill>
                  <a:srgbClr val="666e7d"/>
                </a:solidFill>
                <a:effectLst/>
                <a:uFillTx/>
                <a:latin typeface="Aptos"/>
              </a:rPr>
              <a:t>AI-901 • EP 3</a:t>
            </a:r>
            <a:endParaRPr b="0" lang="en-US" sz="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7" name="TextBox 4"/>
          <p:cNvSpPr/>
          <p:nvPr/>
        </p:nvSpPr>
        <p:spPr>
          <a:xfrm>
            <a:off x="502920" y="567000"/>
            <a:ext cx="10698120" cy="427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2800" strike="noStrike" u="none">
                <a:solidFill>
                  <a:srgbClr val="1f2937"/>
                </a:solidFill>
                <a:effectLst/>
                <a:uFillTx/>
                <a:latin typeface="Aptos"/>
              </a:rPr>
              <a:t>Fechando o EP3</a:t>
            </a:r>
            <a:endParaRPr b="0" lang="en-US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8" name="TextBox 5"/>
          <p:cNvSpPr/>
          <p:nvPr/>
        </p:nvSpPr>
        <p:spPr>
          <a:xfrm>
            <a:off x="685800" y="1353240"/>
            <a:ext cx="10240920" cy="213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400" strike="noStrike" u="none">
                <a:solidFill>
                  <a:srgbClr val="666e7d"/>
                </a:solidFill>
                <a:effectLst/>
                <a:uFillTx/>
                <a:latin typeface="Aptos"/>
              </a:rPr>
              <a:t>Agora você já consegue reconhecer os principais cenários de texto e fala.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9" name="Rounded Rectangle 6"/>
          <p:cNvSpPr/>
          <p:nvPr/>
        </p:nvSpPr>
        <p:spPr>
          <a:xfrm>
            <a:off x="530280" y="2148840"/>
            <a:ext cx="1992960" cy="123408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600">
            <a:solidFill>
              <a:srgbClr val="d1d5db"/>
            </a:solidFill>
            <a:round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70" name="TextBox 7"/>
          <p:cNvSpPr/>
          <p:nvPr/>
        </p:nvSpPr>
        <p:spPr>
          <a:xfrm>
            <a:off x="530280" y="2370960"/>
            <a:ext cx="1992960" cy="214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 algn="ctr" defTabSz="457200">
              <a:lnSpc>
                <a:spcPct val="100000"/>
              </a:lnSpc>
            </a:pPr>
            <a:r>
              <a:rPr b="1" lang="en-US" sz="1400" strike="noStrike" u="none">
                <a:solidFill>
                  <a:srgbClr val="5b21b6"/>
                </a:solidFill>
                <a:effectLst/>
                <a:uFillTx/>
                <a:latin typeface="Aptos"/>
              </a:rPr>
              <a:t>Encontrar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1" name="TextBox 8"/>
          <p:cNvSpPr/>
          <p:nvPr/>
        </p:nvSpPr>
        <p:spPr>
          <a:xfrm>
            <a:off x="530280" y="2824920"/>
            <a:ext cx="1992960" cy="18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 algn="ctr" defTabSz="457200">
              <a:lnSpc>
                <a:spcPct val="100000"/>
              </a:lnSpc>
            </a:pPr>
            <a:r>
              <a:rPr b="0" lang="en-US" sz="1200" strike="noStrike" u="none">
                <a:solidFill>
                  <a:srgbClr val="666e7d"/>
                </a:solidFill>
                <a:effectLst/>
                <a:uFillTx/>
                <a:latin typeface="Aptos"/>
              </a:rPr>
              <a:t>Palavras-chave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2" name="Rounded Rectangle 9"/>
          <p:cNvSpPr/>
          <p:nvPr/>
        </p:nvSpPr>
        <p:spPr>
          <a:xfrm>
            <a:off x="2797920" y="2148840"/>
            <a:ext cx="1992960" cy="123408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600">
            <a:solidFill>
              <a:srgbClr val="d1d5db"/>
            </a:solidFill>
            <a:round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73" name="TextBox 10"/>
          <p:cNvSpPr/>
          <p:nvPr/>
        </p:nvSpPr>
        <p:spPr>
          <a:xfrm>
            <a:off x="2797920" y="2370960"/>
            <a:ext cx="1992960" cy="214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 algn="ctr" defTabSz="457200">
              <a:lnSpc>
                <a:spcPct val="100000"/>
              </a:lnSpc>
            </a:pPr>
            <a:r>
              <a:rPr b="1" lang="en-US" sz="1400" strike="noStrike" u="none">
                <a:solidFill>
                  <a:srgbClr val="0284c7"/>
                </a:solidFill>
                <a:effectLst/>
                <a:uFillTx/>
                <a:latin typeface="Aptos"/>
              </a:rPr>
              <a:t>Reconhecer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4" name="TextBox 11"/>
          <p:cNvSpPr/>
          <p:nvPr/>
        </p:nvSpPr>
        <p:spPr>
          <a:xfrm>
            <a:off x="2797920" y="2824920"/>
            <a:ext cx="1992960" cy="18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 algn="ctr" defTabSz="457200">
              <a:lnSpc>
                <a:spcPct val="100000"/>
              </a:lnSpc>
            </a:pPr>
            <a:r>
              <a:rPr b="0" lang="en-US" sz="1200" strike="noStrike" u="none">
                <a:solidFill>
                  <a:srgbClr val="666e7d"/>
                </a:solidFill>
                <a:effectLst/>
                <a:uFillTx/>
                <a:latin typeface="Aptos"/>
              </a:rPr>
              <a:t>Entidades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5" name="Rounded Rectangle 12"/>
          <p:cNvSpPr/>
          <p:nvPr/>
        </p:nvSpPr>
        <p:spPr>
          <a:xfrm>
            <a:off x="5065920" y="2148840"/>
            <a:ext cx="1992960" cy="123408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600">
            <a:solidFill>
              <a:srgbClr val="d1d5db"/>
            </a:solidFill>
            <a:round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76" name="TextBox 13"/>
          <p:cNvSpPr/>
          <p:nvPr/>
        </p:nvSpPr>
        <p:spPr>
          <a:xfrm>
            <a:off x="5065920" y="2370960"/>
            <a:ext cx="1992960" cy="214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 algn="ctr" defTabSz="457200">
              <a:lnSpc>
                <a:spcPct val="100000"/>
              </a:lnSpc>
            </a:pPr>
            <a:r>
              <a:rPr b="1" lang="en-US" sz="1400" strike="noStrike" u="none">
                <a:solidFill>
                  <a:srgbClr val="059669"/>
                </a:solidFill>
                <a:effectLst/>
                <a:uFillTx/>
                <a:latin typeface="Aptos"/>
              </a:rPr>
              <a:t>Interpretar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7" name="TextBox 14"/>
          <p:cNvSpPr/>
          <p:nvPr/>
        </p:nvSpPr>
        <p:spPr>
          <a:xfrm>
            <a:off x="5065920" y="2824920"/>
            <a:ext cx="1992960" cy="18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 algn="ctr" defTabSz="457200">
              <a:lnSpc>
                <a:spcPct val="100000"/>
              </a:lnSpc>
            </a:pPr>
            <a:r>
              <a:rPr b="0" lang="en-US" sz="1200" strike="noStrike" u="none">
                <a:solidFill>
                  <a:srgbClr val="666e7d"/>
                </a:solidFill>
                <a:effectLst/>
                <a:uFillTx/>
                <a:latin typeface="Aptos"/>
              </a:rPr>
              <a:t>Sentimento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8" name="Rounded Rectangle 15"/>
          <p:cNvSpPr/>
          <p:nvPr/>
        </p:nvSpPr>
        <p:spPr>
          <a:xfrm>
            <a:off x="7333560" y="2148840"/>
            <a:ext cx="1992960" cy="123408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600">
            <a:solidFill>
              <a:srgbClr val="d1d5db"/>
            </a:solidFill>
            <a:round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79" name="TextBox 16"/>
          <p:cNvSpPr/>
          <p:nvPr/>
        </p:nvSpPr>
        <p:spPr>
          <a:xfrm>
            <a:off x="7333560" y="2370960"/>
            <a:ext cx="1992960" cy="214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 algn="ctr" defTabSz="457200">
              <a:lnSpc>
                <a:spcPct val="100000"/>
              </a:lnSpc>
            </a:pPr>
            <a:r>
              <a:rPr b="1" lang="en-US" sz="1400" strike="noStrike" u="none">
                <a:solidFill>
                  <a:srgbClr val="ea580c"/>
                </a:solidFill>
                <a:effectLst/>
                <a:uFillTx/>
                <a:latin typeface="Aptos"/>
              </a:rPr>
              <a:t>Resumir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0" name="TextBox 17"/>
          <p:cNvSpPr/>
          <p:nvPr/>
        </p:nvSpPr>
        <p:spPr>
          <a:xfrm>
            <a:off x="7333560" y="2824920"/>
            <a:ext cx="1992960" cy="18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 algn="ctr" defTabSz="457200">
              <a:lnSpc>
                <a:spcPct val="100000"/>
              </a:lnSpc>
            </a:pPr>
            <a:r>
              <a:rPr b="0" lang="en-US" sz="1200" strike="noStrike" u="none">
                <a:solidFill>
                  <a:srgbClr val="666e7d"/>
                </a:solidFill>
                <a:effectLst/>
                <a:uFillTx/>
                <a:latin typeface="Aptos"/>
              </a:rPr>
              <a:t>Resumo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1" name="Rounded Rectangle 18"/>
          <p:cNvSpPr/>
          <p:nvPr/>
        </p:nvSpPr>
        <p:spPr>
          <a:xfrm>
            <a:off x="9601200" y="2148840"/>
            <a:ext cx="1992960" cy="123408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600">
            <a:solidFill>
              <a:srgbClr val="d1d5db"/>
            </a:solidFill>
            <a:round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82" name="TextBox 19"/>
          <p:cNvSpPr/>
          <p:nvPr/>
        </p:nvSpPr>
        <p:spPr>
          <a:xfrm>
            <a:off x="9601200" y="2370960"/>
            <a:ext cx="1992960" cy="214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 algn="ctr" defTabSz="457200">
              <a:lnSpc>
                <a:spcPct val="100000"/>
              </a:lnSpc>
            </a:pPr>
            <a:r>
              <a:rPr b="1" lang="en-US" sz="1400" strike="noStrike" u="none">
                <a:solidFill>
                  <a:srgbClr val="5b21b6"/>
                </a:solidFill>
                <a:effectLst/>
                <a:uFillTx/>
                <a:latin typeface="Aptos"/>
              </a:rPr>
              <a:t>Ouvir / Falar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3" name="TextBox 20"/>
          <p:cNvSpPr/>
          <p:nvPr/>
        </p:nvSpPr>
        <p:spPr>
          <a:xfrm>
            <a:off x="9601200" y="2824920"/>
            <a:ext cx="1992960" cy="18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 algn="ctr" defTabSz="457200">
              <a:lnSpc>
                <a:spcPct val="100000"/>
              </a:lnSpc>
            </a:pPr>
            <a:r>
              <a:rPr b="0" lang="en-US" sz="1200" strike="noStrike" u="none">
                <a:solidFill>
                  <a:srgbClr val="666e7d"/>
                </a:solidFill>
                <a:effectLst/>
                <a:uFillTx/>
                <a:latin typeface="Aptos"/>
              </a:rPr>
              <a:t>Speech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4" name="Rounded Rectangle 21"/>
          <p:cNvSpPr/>
          <p:nvPr/>
        </p:nvSpPr>
        <p:spPr>
          <a:xfrm>
            <a:off x="1417320" y="4251960"/>
            <a:ext cx="9052200" cy="776880"/>
          </a:xfrm>
          <a:prstGeom prst="roundRect">
            <a:avLst>
              <a:gd name="adj" fmla="val 16667"/>
            </a:avLst>
          </a:prstGeom>
          <a:solidFill>
            <a:srgbClr val="ede9fe"/>
          </a:solidFill>
          <a:ln w="9360">
            <a:solidFill>
              <a:srgbClr val="ede9fe"/>
            </a:solidFill>
            <a:round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85" name="TextBox 22"/>
          <p:cNvSpPr/>
          <p:nvPr/>
        </p:nvSpPr>
        <p:spPr>
          <a:xfrm>
            <a:off x="1417320" y="4502880"/>
            <a:ext cx="9052200" cy="27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 algn="ctr" defTabSz="457200">
              <a:lnSpc>
                <a:spcPct val="100000"/>
              </a:lnSpc>
            </a:pPr>
            <a:r>
              <a:rPr b="1" lang="en-US" sz="1800" strike="noStrike" u="none">
                <a:solidFill>
                  <a:srgbClr val="5b21b6"/>
                </a:solidFill>
                <a:effectLst/>
                <a:uFillTx/>
                <a:latin typeface="Aptos"/>
              </a:rPr>
              <a:t>Próximo: Computer Vision + geração de imagens no Microsoft Foundry.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6" name="TextBox 23"/>
          <p:cNvSpPr/>
          <p:nvPr/>
        </p:nvSpPr>
        <p:spPr>
          <a:xfrm>
            <a:off x="4919400" y="5668560"/>
            <a:ext cx="2011320" cy="13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 algn="ctr" defTabSz="457200">
              <a:lnSpc>
                <a:spcPct val="100000"/>
              </a:lnSpc>
            </a:pPr>
            <a:r>
              <a:rPr b="1" lang="en-US" sz="900" strike="noStrike" u="none">
                <a:solidFill>
                  <a:srgbClr val="666e7d"/>
                </a:solidFill>
                <a:effectLst/>
                <a:uFillTx/>
                <a:latin typeface="Aptos"/>
              </a:rPr>
              <a:t>AI-901 • EP 3/7</a:t>
            </a:r>
            <a:endParaRPr b="0" lang="en-US" sz="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4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5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6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7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8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9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10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1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</TotalTime>
  <Application>LibreOffice/25.2.3.2$Linux_X86_64 LibreOffice_project/520$Build-2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2013-01-27T09:14:16Z</dcterms:created>
  <dc:creator/>
  <dc:description>generated using python-pptx</dc:description>
  <dc:language>en-US</dc:language>
  <cp:lastModifiedBy>Steve Canny</cp:lastModifiedBy>
  <dcterms:modified xsi:type="dcterms:W3CDTF">2013-01-27T09:15:58Z</dcterms:modified>
  <cp:revision>1</cp:revision>
  <dc:subject/>
  <dc:title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PresentationFormat">
    <vt:lpwstr>On-screen Show (4:3)</vt:lpwstr>
  </property>
</Properties>
</file>